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Good afternoon everyone. Today we'll be walking you through our course project on modeling memory in temporal networks.</a:t>
            </a:r>
          </a:p>
          <a:p/>
          <a:p>
            <a:r>
              <a:t>This work is based on a recent 2026 paper by Guerrini, Cattuto, and Dall'Amico published in EPJ Data Science. We didn't just replicate the paper — we built a full Python package around it and added several extensions of our own, including epidemic simulations and targeted intervention strategies.</a:t>
            </a:r>
          </a:p>
          <a:p/>
          <a:p>
            <a:r>
              <a:t>Let me hand it over to [Speaker B] who'll start by setting up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So let's start with why this matters. When we study networks — say, who's in contact with whom in a school or hospital — most models treat these as static graphs. But real contact patterns unfold over time.</a:t>
            </a:r>
          </a:p>
          <a:p/>
          <a:p>
            <a:r>
              <a:t>Think about your own day: you talk to a colleague, go to a meeting, come back, and talk to the same colleague again. You're revisiting recent contacts. This isn't random — it's a form of memory.</a:t>
            </a:r>
          </a:p>
          <a:p/>
          <a:p>
            <a:r>
              <a:t>Standard Markov random walk models completely miss this. They assume every step is independent of the history. But as you can see on the right, in reality people return to recently visited nodes far more often than chance would predict.</a:t>
            </a:r>
          </a:p>
          <a:p/>
          <a:p>
            <a:r>
              <a:t>The central question of this paper is: can we quantify this memory as a single parameter p, and does it actually matter for things like epidemic spreading?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Let me give you a quick overview of what this paper does.</a:t>
            </a:r>
          </a:p>
          <a:p/>
          <a:p>
            <a:r>
              <a:t>The fundamental object is a Time-Respecting Path, or TRP. Imagine tracing a chain of contacts through time: person A meets B at time 1, then B meets C at time 2, and so on. The key rule is that time can only move forward, and you can't immediately go back to where you just came from — that's the non-backtracking constraint.</a:t>
            </a:r>
          </a:p>
          <a:p/>
          <a:p>
            <a:r>
              <a:t>The paper's main model is called MEM. At each step along a TRP, the walker either returns to a recently visited node — one that's in its memory set of the last m contacts — with probability p, or it goes to any other node uniformly. So p is literally the probability of "remembering" a recent contact.</a:t>
            </a:r>
          </a:p>
          <a:p/>
          <a:p>
            <a:r>
              <a:t>They also extend this to MEM+SBM, which accounts for community structure. If you're in a school, you're more likely to interact within your own class. The affinity matrix C captures how much more likely within-community vs. between-community transitions are.</a:t>
            </a:r>
          </a:p>
          <a:p/>
          <a:p>
            <a:r>
              <a:t>To validate that the measured memory is real and not just an artifact, they use two null models: an Erdős-Rényi random graph that destroys all structure, and a time-shuffled null that keeps the topology but scrambles the temporal order.</a:t>
            </a:r>
          </a:p>
          <a:p/>
          <a:p>
            <a:r>
              <a:t>All of this is tested on 8 real proximity datasets from schools, workplaces, hospitals, and more.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Here's how we structured the implementation. We built a proper installable Python package called memory_trp with 12 core modules.</a:t>
            </a:r>
          </a:p>
          <a:p/>
          <a:p>
            <a:r>
              <a:t>The pipeline flows naturally: loading parses the raw CSV files, aggregation bins contacts into discrete time windows, trp.py samples the paths, records.py extracts the transition data, and models.py does the statistical inference.</a:t>
            </a:r>
          </a:p>
          <a:p/>
          <a:p>
            <a:r>
              <a:t>A few things we're proud of in terms of engineering:</a:t>
            </a:r>
          </a:p>
          <a:p>
            <a:r>
              <a:t>- Every single tunable parameter sits in one config.py file. There are zero magic numbers anywhere else.</a:t>
            </a:r>
          </a:p>
          <a:p>
            <a:r>
              <a:t>- We use explicit NumPy random generators with seeds, so every result is exactly reproducible.</a:t>
            </a:r>
          </a:p>
          <a:p>
            <a:r>
              <a:t>- The MEM fixed-point solver uses Mann damping to guarantee convergence, which the paper doesn't explicitly detail.</a:t>
            </a:r>
          </a:p>
          <a:p>
            <a:r>
              <a:t>- For the community affinity matrix C in MEM+SBM, we use L-BFGS-B optimization in log-space rather than the paper's implicit equations, because it's more numerically stable.</a:t>
            </a:r>
          </a:p>
          <a:p>
            <a:r>
              <a:t>- We wrote 44 unit tests covering everything from basic data loading to SIR epidemic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Now let's get into the meat of it. The first thing we need is to actually sample these time-respecting paths from the data.</a:t>
            </a:r>
          </a:p>
          <a:p/>
          <a:p>
            <a:r>
              <a:t>The algorithm is pretty intuitive. You pick a random moment in time — a random snapshot — and a random edge that's active at that moment. That gives you the first two nodes of your path.</a:t>
            </a:r>
          </a:p>
          <a:p/>
          <a:p>
            <a:r>
              <a:t>Then you follow the "end of interaction" — basically, if Alice and Bob are in contact for 5 consecutive snapshots, you wait until that interaction ends before looking for the next step.</a:t>
            </a:r>
          </a:p>
          <a:p/>
          <a:p>
            <a:r>
              <a:t>At the next snapshot, you look at all of Bob's contacts except Alice — that's the non-backtracking part — and you pick the next person proportional to how many contacts Bob has with them.</a:t>
            </a:r>
          </a:p>
          <a:p/>
          <a:p>
            <a:r>
              <a:t>You keep doing this for 30 steps. We sample 20,000 such paths per measurement to get stable statistics. If a path hits a dead end — someone with no future contacts — we just discard it and try again, up to 1000 retries per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So how do we actually estimate p? It's a three-step process.</a:t>
            </a:r>
          </a:p>
          <a:p/>
          <a:p>
            <a:r>
              <a:t>First, we convert our sampled paths into "transition records." For each step in each path, we record where we are, where we go next, and what the memory set looks like — that is, the last m unique nodes we visited. The key binary label is: did the next node fall inside the memory set or not?</a:t>
            </a:r>
          </a:p>
          <a:p/>
          <a:p>
            <a:r>
              <a:t>Second, we write out the full log-likelihood. Each record contributes either log(p/|M| + (1-p)/(n-2)) if it's a return, or log((1-p)/(n-2)) if it's not. We differentiate this with respect to p, set to zero, and get a fixed-point equation.</a:t>
            </a:r>
          </a:p>
          <a:p/>
          <a:p>
            <a:r>
              <a:t>Third, we iterate. We use Mann damping with alpha = 0.15 — this means p_new = alpha * p_old + (1-alpha) * update. This guarantees convergence, which a naive iteration doesn't always do.</a:t>
            </a:r>
          </a:p>
          <a:p/>
          <a:p>
            <a:r>
              <a:t>On the right you can see our results at memory horizon m = 10 across all 8 datasets. Every single dataset shows strong memory — p ranges from 0.51 to 0.97. Meanwhile the Erdős-Rényi null gives p essentially zero. This confirms that the memory we're measuring is real and not an artifact of the network's degree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This is one of the key results. Each subplot shows one dataset, and we're plotting the inferred memory p on the y-axis against the memory horizon m on the x-axis.</a:t>
            </a:r>
          </a:p>
          <a:p/>
          <a:p>
            <a:r>
              <a:t>The blue line with confidence bands is the empirical data. The green dashed line is the time-shuffled null, and the orange dotted line is the ER null.</a:t>
            </a:r>
          </a:p>
          <a:p/>
          <a:p>
            <a:r>
              <a:t>A few things to notice. First, memory p increases with m and then plateaus — this makes sense because people have a finite "contact memory" of maybe 5-10 recent contacts. Looking back further doesn't add much new information.</a:t>
            </a:r>
          </a:p>
          <a:p/>
          <a:p>
            <a:r>
              <a:t>Second, the empirical p is consistently and significantly above the ER null, which hovers near zero. This is the fundamental result: real networks have memory that random graphs don't.</a:t>
            </a:r>
          </a:p>
          <a:p/>
          <a:p>
            <a:r>
              <a:t>Third, the time-shuffled null is interesting. For some datasets like the Workplace, shuffling time dramatically reduces memory, meaning temporal ordering matters a lot. For others like Conference, shuffling actually increases apparent memory, suggesting that the static topology itself generates some return patterns.</a:t>
            </a:r>
          </a:p>
          <a:p/>
          <a:p>
            <a:r>
              <a:t>Fourth, look at Malawi — it has p near 0.97! This is a small rural village where people basically interact with the same handful of neighbors over and over.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Now, is community structure actually important, or does the simple MEM model already capture everything? We use the Bayesian Information Criterion to answer this rigorously.</a:t>
            </a:r>
          </a:p>
          <a:p/>
          <a:p>
            <a:r>
              <a:t>BIC balances goodness-of-fit against model complexity. A lower BIC is better. The ΔBIC between MEM and MEM+SBM is the key number — if it's above 10, that's "very strong evidence" for the more complex model.</a:t>
            </a:r>
          </a:p>
          <a:p/>
          <a:p>
            <a:r>
              <a:t>And we see staggering ΔBIC values. For High School 2013, it's over 90,000. For the Workplace, over 50,000. Even the Hospital, the smallest labeled dataset, has ΔBIC over 6,000.</a:t>
            </a:r>
          </a:p>
          <a:p/>
          <a:p>
            <a:r>
              <a:t>This means incorporating community structure via the affinity matrix C dramatically improves the model. People aren't just returning to recent contacts randomly — they're more likely to return to contacts within their own community. Students go back to classmates, not random students from other classes.</a:t>
            </a:r>
          </a:p>
          <a:p/>
          <a:p>
            <a:r>
              <a:t>The MEM+SBM p is typically a bit lower than MEM p, because some of the "apparent memory" in MEM was actually community affinity being misattributed to individual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One important question is: does our measurement of memory depend on how we define the time resolution? If we change the snapshot window from 20 seconds to 5 minutes or even 15 minutes, does memory disappear?</a:t>
            </a:r>
          </a:p>
          <a:p/>
          <a:p>
            <a:r>
              <a:t>On the left, you see heatmaps of p across different combinations of snapshot resolution Δt and memory horizon m, for both MEM and MEM+SBM. The key takeaway is that memory is consistently present regardless of resolution — it's not an artifact of our choice of time window.</a:t>
            </a:r>
          </a:p>
          <a:p/>
          <a:p>
            <a:r>
              <a:t>On the right, we convert from step-based memory to physical time duration τ in minutes. We're asking: how far back in physical time does the memory extend? The curves show that memory is strong for the first 10-15 minutes and then gradually saturates. This corresponds to the typical timescale of face-to-face interactions in these settings.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Let's dig deeper into what generates this memory. We use two null models to decompose it.</a:t>
            </a:r>
          </a:p>
          <a:p/>
          <a:p>
            <a:r>
              <a:t>The ER null destroys everything — it's just a random graph. If we still see memory on a random graph, something's wrong with our method. We don't — p is essentially zero on ER nulls, which validates our approach.</a:t>
            </a:r>
          </a:p>
          <a:p/>
          <a:p>
            <a:r>
              <a:t>The time-shuffled null is more subtle. It keeps every single snapshot — every instantaneous contact pattern — exactly intact. What it destroys is the temporal ordering. Imagine shuffling the frames of a movie — each frame is unchanged, but the story makes no sense.</a:t>
            </a:r>
          </a:p>
          <a:p/>
          <a:p>
            <a:r>
              <a:t>The chart on the right shows the comparison across all 8 datasets. For the Workplace, time-shuffling drops p significantly, from 0.61 to 0.55. This means that part of the memory in the Workplace comes from the temporal dynamics — the specific ordering of who meets whom when.</a:t>
            </a:r>
          </a:p>
          <a:p/>
          <a:p>
            <a:r>
              <a:t>For Conference, interestingly, shuffling actually increases apparent memory. This suggests that in the conference setting, the static network topology itself creates return patterns, and the actual temporal ordering partially disrupts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This is one of our implementation results that extends the paper. We binned the transition records by clock time — both hourly and in 15-minute intervals — and fit MEM at each time window.</a:t>
            </a:r>
          </a:p>
          <a:p/>
          <a:p>
            <a:r>
              <a:t>On the left is the hourly view across all labeled datasets. You can see clear circadian patterns. In the Primary School, memory peaks during class time and dips during breaks. In the Workplace, there's a distinctive lunch-time dip.</a:t>
            </a:r>
          </a:p>
          <a:p/>
          <a:p>
            <a:r>
              <a:t>On the right is the finer 15-minute resolution, which reveals even more structure. For the High Schools, you can actually see the class-break-class rhythm in the memory curve.</a:t>
            </a:r>
          </a:p>
          <a:p/>
          <a:p>
            <a:r>
              <a:t>This tells us something important: memory isn't a fixed property of a network. It's dynamic and depends on what people are doing at that moment. During structured activities like classes, people interact with a fixed group and show high return rates. During breaks, interactions become more exploratory and memory drops.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Going even deeper, we can estimate a separate memory parameter p_c for each community within a dataset.</a:t>
            </a:r>
          </a:p>
          <a:p/>
          <a:p>
            <a:r>
              <a:t>Here on the left is the Primary School broken down by class. Each bar is a different class, with 95% bootstrap confidence intervals. You can see that most classes have similar memory around 0.4-0.5, but there's meaningful variation.</a:t>
            </a:r>
          </a:p>
          <a:p/>
          <a:p>
            <a:r>
              <a:t>The Hospital in the middle is really interesting. Nurses and medical staff show high memory — they return to the same patients and colleagues repeatedly. But patients show lower memory, which makes sense because their contact patterns are less structured.</a:t>
            </a:r>
          </a:p>
          <a:p/>
          <a:p>
            <a:r>
              <a:t>On the right is the Workplace broken down by department. Some departments are clearly more insular than others — they interact mostly within their group.</a:t>
            </a:r>
          </a:p>
          <a:p/>
          <a:p>
            <a:r>
              <a:t>Note that we hold the global affinity matrix C fixed from the full dataset fit and only re-estimate p per group. This ensures we're comparing apples to apples — the differences in p_c reflect genuine differences in memory behavior, not differences in community size or 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All of our results come with uncertainty quantification. We use non-parametric bootstrap with B = 200 resamples.</a:t>
            </a:r>
          </a:p>
          <a:p/>
          <a:p>
            <a:r>
              <a:t>The procedure is straightforward: we resample the transition records with replacement, re-fit the MEM model on each resample, and take the 2.5th and 97.5th percentiles as our 95% confidence interval.</a:t>
            </a:r>
          </a:p>
          <a:p/>
          <a:p>
            <a:r>
              <a:t>The plot on the right shows the Primary School example. The shaded bands are the confidence intervals, and you can see they're tight — typically plus or minus 0.005 to 0.015. This means our estimates are reliable; if you repeated the path sampling with a different seed, you'd get essentially the same answer.</a:t>
            </a:r>
          </a:p>
          <a:p/>
          <a:p>
            <a:r>
              <a:t>This is important because it confirms that the differences we see between datasets, between communities, and between null models are statistically significant, not noise.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Now let's talk about what we added beyond the paper. This is one of our major extensions.</a:t>
            </a:r>
          </a:p>
          <a:p/>
          <a:p>
            <a:r>
              <a:t>We built a synthetic temporal network generator where we can precisely control the amount of memory. The parameter alpha goes from 0 — a pure Markov network with no memory — to 1, maximum memory where nodes always revisit recent contacts.</a:t>
            </a:r>
          </a:p>
          <a:p/>
          <a:p>
            <a:r>
              <a:t>We generated 10 graphs for each combination of alpha and average degree, then ran heat diffusion on each one to see how information spreads.</a:t>
            </a:r>
          </a:p>
          <a:p/>
          <a:p>
            <a:r>
              <a:t>The key finding, shown in the plot on the right, is that more memory means slower spreading. When alpha is high, diffused information stays trapped in local clusters rather than spreading globally. This is measured by entropy — lower entropy means the information is more concentrated, less spread out.</a:t>
            </a:r>
          </a:p>
          <a:p/>
          <a:p>
            <a:r>
              <a:t>This has real implications: in a network with strong memory, a piece of gossip or a virus might spread very quickly within a tight-knit group but take much longer to jump between groups. The degree also matters — higher-degree networks spread faster regardless of memory, but memory still acts as a brake.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Our biggest extension is running actual SIR epidemic simulations — Susceptible, Infected, Recovered — on the real temporal networks and comparing them to the time-shuffled versions.</a:t>
            </a:r>
          </a:p>
          <a:p/>
          <a:p>
            <a:r>
              <a:t>We calibrate the transmission rate for each dataset using bisection search, targeting a mean outbreak fraction around 40% on the real network. Then we run 200 simulations on both the real and shuffled networks using the same rate.</a:t>
            </a:r>
          </a:p>
          <a:p/>
          <a:p>
            <a:r>
              <a:t>The results are striking. Look at the left panel — mean outbreak size. For almost every dataset, the time-shuffled network produces much larger outbreaks. The Primary School jumps from 16% to 89%. High School 2013 goes from 3% to 41%.</a:t>
            </a:r>
          </a:p>
          <a:p/>
          <a:p>
            <a:r>
              <a:t>The middle panel shows time to peak. Epidemics on shuffled networks take longer to peak because the temporal scrambling creates more circuitous spread paths.</a:t>
            </a:r>
          </a:p>
          <a:p/>
          <a:p>
            <a:r>
              <a:t>The right panel connects epidemic size to memory. There's a clear correlation — datasets with higher memory p tend to have smaller relative outbreaks compared to their shuffled versions. This makes sense: memory concentrates contacts within familiar groups, which creates a natural barrier to epidemic spread. The virus keeps re-infecting the same cluster rather than jumping to new 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This is perhaps our most practically relevant extension. We ask: if a disease is spreading and you can only isolate 10% of the population, who should you isolate?</a:t>
            </a:r>
          </a:p>
          <a:p/>
          <a:p>
            <a:r>
              <a:t>We compare five strategies. "None" is the baseline — no intervention. "Random" removes 10% at random. "Contact Time" targets people with the most total contact time — the traditional super-spreader approach. "Return Rate" is our novel metric that uses the memory framework — we target people who are most likely to revisit recent contacts. And "Community Closure" removes an entire group, like closing one classroom.</a:t>
            </a:r>
          </a:p>
          <a:p/>
          <a:p>
            <a:r>
              <a:t>The grid on the left shows the results across all 8 datasets. The key findings are:</a:t>
            </a:r>
          </a:p>
          <a:p/>
          <a:p>
            <a:r>
              <a:t>First, Contact Time targeting is generally the most effective strategy — removing the heaviest interactors significantly cuts outbreak size.</a:t>
            </a:r>
          </a:p>
          <a:p/>
          <a:p>
            <a:r>
              <a:t>Second, our Return Rate strategy performs comparably in many cases, which is notable because it's a fundamentally different approach. It targets people based on their memory behavior rather than their raw contact volume.</a:t>
            </a:r>
          </a:p>
          <a:p/>
          <a:p>
            <a:r>
              <a:t>Third, Community Closure can be very effective in structured environments like schools, where removing one class cuts off a major transmission pathway.</a:t>
            </a:r>
          </a:p>
          <a:p/>
          <a:p>
            <a:r>
              <a:t>Fourth, random removal helps but is never as effective as targeted approaches — this justifies the effort of identifying high-risk individuals.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We also built an interactive dashboard using Streamlit. The idea is that someone who hasn't looked at our code — say a professor or a classmate — can explore all the results just by visiting a web page.</a:t>
            </a:r>
          </a:p>
          <a:p/>
          <a:p>
            <a:r>
              <a:t>You pick a dataset from a dropdown, adjust the temporal resolution and memory horizon with sliders, and the dashboard instantly shows you the inferred p values, a plot of memory vs horizon, the community affinity matrix, and BIC model selection results.</a:t>
            </a:r>
          </a:p>
          <a:p/>
          <a:p>
            <a:r>
              <a:t>The caching is hierarchical — if you just change m, the app doesn't need to re-sample paths or re-build the graph; it only re-creates the transition records and re-fits the model. This makes parameter exploration feel instant.</a:t>
            </a:r>
          </a:p>
          <a:p/>
          <a:p>
            <a:r>
              <a:t>We think this kind of interactive exploration tool is really valuable for understanding the results intuitively. You can quickly see how memory changes across datasets, how it responds to different parameter choices, and how the null models compare.</a:t>
            </a:r>
          </a:p>
          <a:p/>
          <a:p>
            <a:r>
              <a:t>You can launch it with just one command: streamlit run app.py.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We put a lot of effort into engineering quality, because we wanted this to be a proper package, not just a collection of scripts.</a:t>
            </a:r>
          </a:p>
          <a:p/>
          <a:p>
            <a:r>
              <a:t>We have 44 unit tests across 10 test modules. These test everything from basic data aggregation to the correctness of the SIR epidemic simulation. All 44 pass in about 19 seconds.</a:t>
            </a:r>
          </a:p>
          <a:p/>
          <a:p>
            <a:r>
              <a:t>The package is installable via pip with an editable install. We have a pyproject.toml for modern Python packaging standards. The README documents every experiment step, the folder layout, and all our design decisions.</a:t>
            </a:r>
          </a:p>
          <a:p/>
          <a:p>
            <a:r>
              <a:t>We also have a Jupyter demo notebook for interactive exploration, and of course the Streamlit dashboard we showed earlier.</a:t>
            </a:r>
          </a:p>
          <a:p/>
          <a:p>
            <a:r>
              <a:t>Every function has type hints and a docstring. Every parameter lives in config.py. Every random operation uses explicit seeds. We generated 82 result files across 11 experiment scripts.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a:t>
            </a:r>
          </a:p>
          <a:p/>
          <a:p>
            <a:r>
              <a:t>Let me summarise our key takeaways.</a:t>
            </a:r>
          </a:p>
          <a:p/>
          <a:p>
            <a:r>
              <a:t>From the paper: memory is real and strong across all 8 datasets we tested. People revisit recent contacts with probability 0.5 to 0.97, far above what any null model predicts. Community structure explains part of this — MEM+SBM always wins on BIC — but individual memory remains significant even after accounting for communities. And memory is robust to measurement choices and follows real circadian patterns.</a:t>
            </a:r>
          </a:p>
          <a:p/>
          <a:p>
            <a:r>
              <a:t>From our extensions: memory actually matters for epidemic spreading. Time-shuffled networks, which destroy temporal memory, produce 2 to 12 times larger epidemics. This means memory acts as a natural containment mechanism. We also showed that targeting people based on their memory behavior — their return rate — is a viable isolation strategy, competitive with traditional super-spreader targeting.</a:t>
            </a:r>
          </a:p>
          <a:p/>
          <a:p>
            <a:r>
              <a:t>And from an engineering perspective, we built a proper Python package with tests, documentation, and an interactive dashboard. This isn't a throwaway script — it's a tool that could be used for further research.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t>
            </a:r>
          </a:p>
          <a:p/>
          <a:p>
            <a:r>
              <a:t>And that's our presentation. To summarise very briefly: human contact networks have strong temporal memory, and it matters — both for understanding social dynamics and for practical applications like epidemic control.</a:t>
            </a:r>
          </a:p>
          <a:p/>
          <a:p>
            <a:r>
              <a:t>We'd love to take your questions. We can also do a live demo of the Streamlit dashboard if anyone wants to see it in action.</a:t>
            </a:r>
          </a:p>
          <a:p/>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1371600" y="2103120"/>
            <a:ext cx="27432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144000" cy="1371600"/>
          </a:xfrm>
          <a:prstGeom prst="rect">
            <a:avLst/>
          </a:prstGeom>
          <a:noFill/>
        </p:spPr>
        <p:txBody>
          <a:bodyPr wrap="square">
            <a:spAutoFit/>
          </a:bodyPr>
          <a:lstStyle/>
          <a:p>
            <a:pPr algn="l">
              <a:lnSpc>
                <a:spcPts val="4300"/>
              </a:lnSpc>
              <a:defRPr sz="3800" b="1">
                <a:solidFill>
                  <a:srgbClr val="FFFFFF"/>
                </a:solidFill>
                <a:latin typeface="Calibri Light"/>
              </a:defRPr>
            </a:pPr>
            <a:r>
              <a:t>Modeling Memory in</a:t>
            </a:r>
            <a:br/>
            <a:r>
              <a:t>Time-Respecting Paths on Temporal Networks</a:t>
            </a:r>
          </a:p>
        </p:txBody>
      </p:sp>
      <p:sp>
        <p:nvSpPr>
          <p:cNvPr id="4" name="TextBox 3"/>
          <p:cNvSpPr txBox="1"/>
          <p:nvPr/>
        </p:nvSpPr>
        <p:spPr>
          <a:xfrm>
            <a:off x="1371600" y="3840480"/>
            <a:ext cx="8229600" cy="548640"/>
          </a:xfrm>
          <a:prstGeom prst="rect">
            <a:avLst/>
          </a:prstGeom>
          <a:noFill/>
        </p:spPr>
        <p:txBody>
          <a:bodyPr wrap="square">
            <a:spAutoFit/>
          </a:bodyPr>
          <a:lstStyle/>
          <a:p>
            <a:pPr algn="l">
              <a:lnSpc>
                <a:spcPts val="2000"/>
              </a:lnSpc>
              <a:defRPr sz="1800" b="0">
                <a:solidFill>
                  <a:srgbClr val="4EA8DE"/>
                </a:solidFill>
                <a:latin typeface="Calibri"/>
              </a:defRPr>
            </a:pPr>
            <a:r>
              <a:t>Based on: Guerrini, Cattuto &amp; Dall'Amico — EPJ Data Science (2026)</a:t>
            </a:r>
          </a:p>
        </p:txBody>
      </p:sp>
      <p:sp>
        <p:nvSpPr>
          <p:cNvPr id="5" name="TextBox 4"/>
          <p:cNvSpPr txBox="1"/>
          <p:nvPr/>
        </p:nvSpPr>
        <p:spPr>
          <a:xfrm>
            <a:off x="1371600" y="4572000"/>
            <a:ext cx="8229600" cy="548640"/>
          </a:xfrm>
          <a:prstGeom prst="rect">
            <a:avLst/>
          </a:prstGeom>
          <a:noFill/>
        </p:spPr>
        <p:txBody>
          <a:bodyPr wrap="square">
            <a:spAutoFit/>
          </a:bodyPr>
          <a:lstStyle/>
          <a:p>
            <a:pPr algn="l">
              <a:lnSpc>
                <a:spcPts val="1800"/>
              </a:lnSpc>
              <a:defRPr sz="1600" b="0">
                <a:solidFill>
                  <a:srgbClr val="CCCCCC"/>
                </a:solidFill>
                <a:latin typeface="Calibri"/>
              </a:defRPr>
            </a:pPr>
            <a:r>
              <a:t>Network Science Course Project</a:t>
            </a:r>
          </a:p>
        </p:txBody>
      </p:sp>
      <p:sp>
        <p:nvSpPr>
          <p:cNvPr id="6" name="TextBox 5"/>
          <p:cNvSpPr txBox="1"/>
          <p:nvPr/>
        </p:nvSpPr>
        <p:spPr>
          <a:xfrm>
            <a:off x="1371600" y="5120640"/>
            <a:ext cx="8229600" cy="548640"/>
          </a:xfrm>
          <a:prstGeom prst="rect">
            <a:avLst/>
          </a:prstGeom>
          <a:noFill/>
        </p:spPr>
        <p:txBody>
          <a:bodyPr wrap="square">
            <a:spAutoFit/>
          </a:bodyPr>
          <a:lstStyle/>
          <a:p>
            <a:pPr algn="l">
              <a:lnSpc>
                <a:spcPts val="1700"/>
              </a:lnSpc>
              <a:defRPr sz="1500" b="0">
                <a:solidFill>
                  <a:srgbClr val="999999"/>
                </a:solidFill>
                <a:latin typeface="Calibri"/>
              </a:defRPr>
            </a:pPr>
            <a:r>
              <a:t>Presented by: Speaker A &amp; Speaker 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lnSpc>
                <a:spcPts val="3600"/>
              </a:lnSpc>
              <a:defRPr sz="3200" b="1">
                <a:solidFill>
                  <a:srgbClr val="FFFFFF"/>
                </a:solidFill>
                <a:latin typeface="Calibri Light"/>
              </a:defRPr>
            </a:pPr>
            <a:r>
              <a:t>Why Does Memory Matter in Networks?</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5029200"/>
          </a:xfrm>
          <a:prstGeom prst="rect">
            <a:avLst/>
          </a:prstGeom>
          <a:noFill/>
        </p:spPr>
        <p:txBody>
          <a:bodyPr wrap="square">
            <a:spAutoFit/>
          </a:bodyPr>
          <a:lstStyle/>
          <a:p>
            <a:pPr algn="l">
              <a:lnSpc>
                <a:spcPts val="1900"/>
              </a:lnSpc>
              <a:defRPr sz="1700" b="0">
                <a:solidFill>
                  <a:srgbClr val="CCCCCC"/>
                </a:solidFill>
                <a:latin typeface="Calibri"/>
              </a:defRPr>
            </a:pPr>
            <a:r>
              <a:t>• Real human contact networks are temporal — interactions happen at specific times, not all at once</a:t>
            </a:r>
          </a:p>
          <a:p>
            <a:pPr algn="l">
              <a:spcBef>
                <a:spcPts val="600"/>
              </a:spcBef>
              <a:spcAft>
                <a:spcPts val="400"/>
              </a:spcAft>
              <a:defRPr sz="800" b="0">
                <a:solidFill>
                  <a:srgbClr val="CCCCCC"/>
                </a:solidFill>
                <a:latin typeface="Calibri"/>
              </a:defRPr>
            </a:pPr>
          </a:p>
          <a:p>
            <a:pPr algn="l">
              <a:spcBef>
                <a:spcPts val="600"/>
              </a:spcBef>
              <a:spcAft>
                <a:spcPts val="400"/>
              </a:spcAft>
              <a:defRPr sz="1700" b="0">
                <a:solidFill>
                  <a:srgbClr val="CCCCCC"/>
                </a:solidFill>
                <a:latin typeface="Calibri"/>
              </a:defRPr>
            </a:pPr>
            <a:r>
              <a:t>• A static graph loses the arrow of time: who met whom first matters for disease spread</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FFFFFF"/>
                </a:solidFill>
                <a:latin typeface="Calibri"/>
              </a:defRPr>
            </a:pPr>
            <a:r>
              <a:t>• People don't walk randomly — they tend to revisit recent contacts (memory)</a:t>
            </a:r>
          </a:p>
          <a:p>
            <a:pPr algn="l">
              <a:spcBef>
                <a:spcPts val="600"/>
              </a:spcBef>
              <a:spcAft>
                <a:spcPts val="400"/>
              </a:spcAft>
              <a:defRPr sz="800" b="0">
                <a:solidFill>
                  <a:srgbClr val="CCCCCC"/>
                </a:solidFill>
                <a:latin typeface="Calibri"/>
              </a:defRPr>
            </a:pPr>
          </a:p>
          <a:p>
            <a:pPr algn="l">
              <a:spcBef>
                <a:spcPts val="600"/>
              </a:spcBef>
              <a:spcAft>
                <a:spcPts val="400"/>
              </a:spcAft>
              <a:defRPr sz="1700" b="0">
                <a:solidFill>
                  <a:srgbClr val="CCCCCC"/>
                </a:solidFill>
                <a:latin typeface="Calibri"/>
              </a:defRPr>
            </a:pPr>
            <a:r>
              <a:t>• This memory effect is invisible in standard models (Markov random walks)</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4EA8DE"/>
                </a:solidFill>
                <a:latin typeface="Calibri"/>
              </a:defRPr>
            </a:pPr>
            <a:r>
              <a:t>• Key question: Can we measure and model this memory? What are its consequences?</a:t>
            </a:r>
          </a:p>
        </p:txBody>
      </p:sp>
      <p:sp>
        <p:nvSpPr>
          <p:cNvPr id="5" name="Rounded Rectangle 4"/>
          <p:cNvSpPr/>
          <p:nvPr/>
        </p:nvSpPr>
        <p:spPr>
          <a:xfrm>
            <a:off x="6400800" y="1371600"/>
            <a:ext cx="5029200" cy="4114800"/>
          </a:xfrm>
          <a:prstGeom prst="roundRect">
            <a:avLst/>
          </a:prstGeom>
          <a:solidFill>
            <a:srgbClr val="252540"/>
          </a:solidFill>
          <a:ln w="19050">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4EA8DE"/>
                </a:solidFill>
              </a:defRPr>
            </a:pPr>
            <a:r>
              <a:t>Temporal Network: Nodes + Time-Stamped Edges</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FFFFFF"/>
                </a:solidFill>
                <a:latin typeface="Consolas"/>
              </a:defRPr>
            </a:pPr>
            <a:r>
              <a:t>    t₁: Alice — Bob</a:t>
            </a:r>
          </a:p>
          <a:p>
            <a:pPr algn="l">
              <a:spcBef>
                <a:spcPts val="600"/>
              </a:spcBef>
              <a:spcAft>
                <a:spcPts val="400"/>
              </a:spcAft>
              <a:defRPr sz="1500" b="0">
                <a:solidFill>
                  <a:srgbClr val="FFFFFF"/>
                </a:solidFill>
                <a:latin typeface="Consolas"/>
              </a:defRPr>
            </a:pPr>
            <a:r>
              <a:t>    t₂: Bob — Carol</a:t>
            </a:r>
          </a:p>
          <a:p>
            <a:pPr algn="l">
              <a:spcBef>
                <a:spcPts val="600"/>
              </a:spcBef>
              <a:spcAft>
                <a:spcPts val="400"/>
              </a:spcAft>
              <a:defRPr sz="1500" b="1">
                <a:solidFill>
                  <a:srgbClr val="2ECCA8"/>
                </a:solidFill>
                <a:latin typeface="Consolas"/>
              </a:defRPr>
            </a:pPr>
            <a:r>
              <a:t>    t₃: Carol — Alice  ← return!</a:t>
            </a:r>
          </a:p>
          <a:p>
            <a:pPr algn="l">
              <a:spcBef>
                <a:spcPts val="600"/>
              </a:spcBef>
              <a:spcAft>
                <a:spcPts val="400"/>
              </a:spcAft>
              <a:defRPr sz="1500" b="1">
                <a:solidFill>
                  <a:srgbClr val="2ECCA8"/>
                </a:solidFill>
                <a:latin typeface="Consolas"/>
              </a:defRPr>
            </a:pPr>
            <a:r>
              <a:t>    t₄: Alice — Bob    ← return!</a:t>
            </a:r>
          </a:p>
          <a:p>
            <a:pPr algn="l">
              <a:spcBef>
                <a:spcPts val="600"/>
              </a:spcBef>
              <a:spcAft>
                <a:spcPts val="400"/>
              </a:spcAft>
              <a:defRPr sz="600" b="0">
                <a:solidFill>
                  <a:srgbClr val="CCCCCC"/>
                </a:solidFill>
                <a:latin typeface="Calibri"/>
              </a:defRPr>
            </a:pPr>
          </a:p>
          <a:p>
            <a:pPr algn="ctr">
              <a:spcBef>
                <a:spcPts val="600"/>
              </a:spcBef>
              <a:spcAft>
                <a:spcPts val="400"/>
              </a:spcAft>
              <a:defRPr sz="1400" b="0">
                <a:solidFill>
                  <a:srgbClr val="E88D3F"/>
                </a:solidFill>
                <a:latin typeface="Calibri"/>
              </a:defRPr>
            </a:pPr>
            <a:r>
              <a:t>People revisit recent contacts more</a:t>
            </a:r>
          </a:p>
          <a:p>
            <a:pPr algn="ctr">
              <a:spcBef>
                <a:spcPts val="600"/>
              </a:spcBef>
              <a:spcAft>
                <a:spcPts val="400"/>
              </a:spcAft>
              <a:defRPr sz="1400" b="0">
                <a:solidFill>
                  <a:srgbClr val="E88D3F"/>
                </a:solidFill>
                <a:latin typeface="Calibri"/>
              </a:defRPr>
            </a:pPr>
            <a:r>
              <a:t>often than a random walk would predict.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The Paper at a Glance</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303520" cy="5029200"/>
          </a:xfrm>
          <a:prstGeom prst="rect">
            <a:avLst/>
          </a:prstGeom>
          <a:noFill/>
        </p:spPr>
        <p:txBody>
          <a:bodyPr wrap="square">
            <a:spAutoFit/>
          </a:bodyPr>
          <a:lstStyle/>
          <a:p>
            <a:pPr algn="l">
              <a:lnSpc>
                <a:spcPts val="2300"/>
              </a:lnSpc>
              <a:defRPr sz="2000" b="1">
                <a:solidFill>
                  <a:srgbClr val="4EA8DE"/>
                </a:solidFill>
                <a:latin typeface="Calibri"/>
              </a:defRPr>
            </a:pPr>
            <a:r>
              <a:t>Core Contributions</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1.  Time-Respecting Paths (TRPs)</a:t>
            </a:r>
          </a:p>
          <a:p>
            <a:pPr algn="l" lvl="1">
              <a:spcBef>
                <a:spcPts val="600"/>
              </a:spcBef>
              <a:spcAft>
                <a:spcPts val="400"/>
              </a:spcAft>
              <a:defRPr sz="1500" b="0">
                <a:solidFill>
                  <a:srgbClr val="CCCCCC"/>
                </a:solidFill>
                <a:latin typeface="Calibri"/>
              </a:defRPr>
            </a:pPr>
            <a:r>
              <a:t>     Non-backtracking walks that respect the arrow of time (t₁ ≤ t₂ ≤ ...)</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2.  Memory Model (MEM)</a:t>
            </a:r>
          </a:p>
          <a:p>
            <a:pPr algn="l" lvl="1">
              <a:spcBef>
                <a:spcPts val="600"/>
              </a:spcBef>
              <a:spcAft>
                <a:spcPts val="400"/>
              </a:spcAft>
              <a:defRPr sz="1500" b="0">
                <a:solidFill>
                  <a:srgbClr val="CCCCCC"/>
                </a:solidFill>
                <a:latin typeface="Calibri"/>
              </a:defRPr>
            </a:pPr>
            <a:r>
              <a:t>     At each step, with probability p the walker returns to a node in its</a:t>
            </a:r>
          </a:p>
          <a:p>
            <a:pPr algn="l" lvl="1">
              <a:spcBef>
                <a:spcPts val="600"/>
              </a:spcBef>
              <a:spcAft>
                <a:spcPts val="400"/>
              </a:spcAft>
              <a:defRPr sz="1500" b="0">
                <a:solidFill>
                  <a:srgbClr val="CCCCCC"/>
                </a:solidFill>
                <a:latin typeface="Calibri"/>
              </a:defRPr>
            </a:pPr>
            <a:r>
              <a:t>     memory set M (the last m unique visited nodes)</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3.  MEM+SBM Extension</a:t>
            </a:r>
          </a:p>
          <a:p>
            <a:pPr algn="l" lvl="1">
              <a:spcBef>
                <a:spcPts val="600"/>
              </a:spcBef>
              <a:spcAft>
                <a:spcPts val="400"/>
              </a:spcAft>
              <a:defRPr sz="1500" b="0">
                <a:solidFill>
                  <a:srgbClr val="CCCCCC"/>
                </a:solidFill>
                <a:latin typeface="Calibri"/>
              </a:defRPr>
            </a:pPr>
            <a:r>
              <a:t>     Combines memory with community structure via an affinity matrix C</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4.  Null Models</a:t>
            </a:r>
          </a:p>
          <a:p>
            <a:pPr algn="l" lvl="1">
              <a:spcBef>
                <a:spcPts val="600"/>
              </a:spcBef>
              <a:spcAft>
                <a:spcPts val="400"/>
              </a:spcAft>
              <a:defRPr sz="1500" b="0">
                <a:solidFill>
                  <a:srgbClr val="CCCCCC"/>
                </a:solidFill>
                <a:latin typeface="Calibri"/>
              </a:defRPr>
            </a:pPr>
            <a:r>
              <a:t>     Erdős–Rényi (destroys topology) and Time-Shuffled (destroys temporal order)</a:t>
            </a:r>
          </a:p>
        </p:txBody>
      </p:sp>
      <p:sp>
        <p:nvSpPr>
          <p:cNvPr id="5" name="Rounded Rectangle 4"/>
          <p:cNvSpPr/>
          <p:nvPr/>
        </p:nvSpPr>
        <p:spPr>
          <a:xfrm>
            <a:off x="6583680" y="1371600"/>
            <a:ext cx="4846320" cy="2743200"/>
          </a:xfrm>
          <a:prstGeom prst="roundRect">
            <a:avLst/>
          </a:prstGeom>
          <a:solidFill>
            <a:srgbClr val="252540"/>
          </a:solidFill>
          <a:ln w="19050">
            <a:solidFill>
              <a:srgbClr val="2EC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ECCA8"/>
                </a:solidFill>
              </a:defRPr>
            </a:pPr>
            <a:r>
              <a:t>MEM Transition Probability</a:t>
            </a:r>
          </a:p>
          <a:p>
            <a:pPr algn="l">
              <a:spcBef>
                <a:spcPts val="600"/>
              </a:spcBef>
              <a:spcAft>
                <a:spcPts val="400"/>
              </a:spcAft>
              <a:defRPr sz="800" b="0">
                <a:solidFill>
                  <a:srgbClr val="CCCCCC"/>
                </a:solidFill>
                <a:latin typeface="Calibri"/>
              </a:defRPr>
            </a:pPr>
          </a:p>
          <a:p>
            <a:pPr algn="l">
              <a:spcBef>
                <a:spcPts val="600"/>
              </a:spcBef>
              <a:spcAft>
                <a:spcPts val="400"/>
              </a:spcAft>
              <a:defRPr sz="1500" b="0">
                <a:solidFill>
                  <a:srgbClr val="FFFFFF"/>
                </a:solidFill>
                <a:latin typeface="Consolas"/>
              </a:defRPr>
            </a:pPr>
            <a:r>
              <a:t>  If next node ∈ Memory set M:</a:t>
            </a:r>
          </a:p>
          <a:p>
            <a:pPr algn="l">
              <a:spcBef>
                <a:spcPts val="600"/>
              </a:spcBef>
              <a:spcAft>
                <a:spcPts val="400"/>
              </a:spcAft>
              <a:defRPr sz="1500" b="1">
                <a:solidFill>
                  <a:srgbClr val="2ECCA8"/>
                </a:solidFill>
                <a:latin typeface="Consolas"/>
              </a:defRPr>
            </a:pPr>
            <a:r>
              <a:t>    P = p / |M| + (1−p) / (n−2)</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FFFFFF"/>
                </a:solidFill>
                <a:latin typeface="Consolas"/>
              </a:defRPr>
            </a:pPr>
            <a:r>
              <a:t>  If next node ∉ Memory set M:</a:t>
            </a:r>
          </a:p>
          <a:p>
            <a:pPr algn="l">
              <a:spcBef>
                <a:spcPts val="600"/>
              </a:spcBef>
              <a:spcAft>
                <a:spcPts val="400"/>
              </a:spcAft>
              <a:defRPr sz="1500" b="1">
                <a:solidFill>
                  <a:srgbClr val="E88D3F"/>
                </a:solidFill>
                <a:latin typeface="Consolas"/>
              </a:defRPr>
            </a:pPr>
            <a:r>
              <a:t>    P = (1−p) / (n−2)</a:t>
            </a:r>
          </a:p>
          <a:p>
            <a:pPr algn="l">
              <a:spcBef>
                <a:spcPts val="600"/>
              </a:spcBef>
              <a:spcAft>
                <a:spcPts val="400"/>
              </a:spcAft>
              <a:defRPr sz="600" b="0">
                <a:solidFill>
                  <a:srgbClr val="CCCCCC"/>
                </a:solidFill>
                <a:latin typeface="Calibri"/>
              </a:defRPr>
            </a:pPr>
          </a:p>
          <a:p>
            <a:pPr algn="l">
              <a:spcBef>
                <a:spcPts val="600"/>
              </a:spcBef>
              <a:spcAft>
                <a:spcPts val="400"/>
              </a:spcAft>
              <a:defRPr sz="1400" b="0">
                <a:solidFill>
                  <a:srgbClr val="999999"/>
                </a:solidFill>
                <a:latin typeface="Consolas"/>
              </a:defRPr>
            </a:pPr>
            <a:r>
              <a:t>  p = 0 → pure random walk (no memory)</a:t>
            </a:r>
          </a:p>
          <a:p>
            <a:pPr algn="l">
              <a:spcBef>
                <a:spcPts val="600"/>
              </a:spcBef>
              <a:spcAft>
                <a:spcPts val="400"/>
              </a:spcAft>
              <a:defRPr sz="1400" b="0">
                <a:solidFill>
                  <a:srgbClr val="999999"/>
                </a:solidFill>
                <a:latin typeface="Consolas"/>
              </a:defRPr>
            </a:pPr>
            <a:r>
              <a:t>  p = 1 → always return to a recent contact</a:t>
            </a:r>
          </a:p>
        </p:txBody>
      </p:sp>
      <p:sp>
        <p:nvSpPr>
          <p:cNvPr id="6" name="Rounded Rectangle 5"/>
          <p:cNvSpPr/>
          <p:nvPr/>
        </p:nvSpPr>
        <p:spPr>
          <a:xfrm>
            <a:off x="6583680" y="4389120"/>
            <a:ext cx="4846320" cy="2011680"/>
          </a:xfrm>
          <a:prstGeom prst="roundRect">
            <a:avLst/>
          </a:prstGeom>
          <a:solidFill>
            <a:srgbClr val="252540"/>
          </a:solidFill>
          <a:ln w="19050">
            <a:solidFill>
              <a:srgbClr val="E88D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8D3F"/>
                </a:solidFill>
              </a:defRPr>
            </a:pPr>
            <a:r>
              <a:t>8 Real-World Proximity Datasets</a:t>
            </a:r>
          </a:p>
          <a:p>
            <a:pPr algn="l">
              <a:spcBef>
                <a:spcPts val="600"/>
              </a:spcBef>
              <a:spcAft>
                <a:spcPts val="400"/>
              </a:spcAft>
              <a:defRPr sz="400" b="0">
                <a:solidFill>
                  <a:srgbClr val="CCCCCC"/>
                </a:solidFill>
                <a:latin typeface="Calibri"/>
              </a:defRPr>
            </a:pPr>
          </a:p>
          <a:p>
            <a:pPr algn="l">
              <a:spcBef>
                <a:spcPts val="600"/>
              </a:spcBef>
              <a:spcAft>
                <a:spcPts val="400"/>
              </a:spcAft>
              <a:defRPr sz="1400" b="0">
                <a:solidFill>
                  <a:srgbClr val="CCCCCC"/>
                </a:solidFill>
                <a:latin typeface="Calibri"/>
              </a:defRPr>
            </a:pPr>
            <a:r>
              <a:t>  Primary School  •  High School (2011, 2012, 2013)</a:t>
            </a:r>
          </a:p>
          <a:p>
            <a:pPr algn="l">
              <a:spcBef>
                <a:spcPts val="600"/>
              </a:spcBef>
              <a:spcAft>
                <a:spcPts val="400"/>
              </a:spcAft>
              <a:defRPr sz="1400" b="0">
                <a:solidFill>
                  <a:srgbClr val="CCCCCC"/>
                </a:solidFill>
                <a:latin typeface="Calibri"/>
              </a:defRPr>
            </a:pPr>
            <a:r>
              <a:t>  Workplace  •  Hospital  •  Conference  •  Malawi Village</a:t>
            </a:r>
          </a:p>
          <a:p>
            <a:pPr algn="l">
              <a:spcBef>
                <a:spcPts val="600"/>
              </a:spcBef>
              <a:spcAft>
                <a:spcPts val="400"/>
              </a:spcAft>
              <a:defRPr sz="1300" b="0">
                <a:solidFill>
                  <a:srgbClr val="999999"/>
                </a:solidFill>
                <a:latin typeface="Calibri"/>
              </a:defRPr>
            </a:pPr>
            <a:r>
              <a:t>  Face-to-face contacts recorded via wearable sensors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Our Implementation: Package Architecture</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029200"/>
          </a:xfrm>
          <a:prstGeom prst="rect">
            <a:avLst/>
          </a:prstGeom>
          <a:noFill/>
        </p:spPr>
        <p:txBody>
          <a:bodyPr wrap="square">
            <a:spAutoFit/>
          </a:bodyPr>
          <a:lstStyle/>
          <a:p>
            <a:pPr algn="l">
              <a:lnSpc>
                <a:spcPts val="2000"/>
              </a:lnSpc>
              <a:defRPr sz="1800" b="1">
                <a:solidFill>
                  <a:srgbClr val="4EA8DE"/>
                </a:solidFill>
                <a:latin typeface="Calibri"/>
              </a:defRPr>
            </a:pPr>
            <a:r>
              <a:t>Core Modules (src/memory_trp/)</a:t>
            </a:r>
          </a:p>
          <a:p>
            <a:pPr algn="l">
              <a:spcBef>
                <a:spcPts val="600"/>
              </a:spcBef>
              <a:spcAft>
                <a:spcPts val="400"/>
              </a:spcAft>
              <a:defRPr sz="400" b="0">
                <a:solidFill>
                  <a:srgbClr val="CCCCCC"/>
                </a:solidFill>
                <a:latin typeface="Calibri"/>
              </a:defRPr>
            </a:pPr>
          </a:p>
          <a:p>
            <a:pPr algn="l">
              <a:spcBef>
                <a:spcPts val="200"/>
              </a:spcBef>
              <a:spcAft>
                <a:spcPts val="100"/>
              </a:spcAft>
              <a:defRPr sz="1300" b="0">
                <a:solidFill>
                  <a:srgbClr val="CCCCCC"/>
                </a:solidFill>
                <a:latin typeface="Consolas"/>
              </a:defRPr>
            </a:pPr>
            <a:r>
              <a:t>  loading.py            Parse 8 raw CSV datasets, remap node IDs</a:t>
            </a:r>
          </a:p>
          <a:p>
            <a:pPr algn="l">
              <a:spcBef>
                <a:spcPts val="200"/>
              </a:spcBef>
              <a:spcAft>
                <a:spcPts val="100"/>
              </a:spcAft>
              <a:defRPr sz="1300" b="0">
                <a:solidFill>
                  <a:srgbClr val="CCCCCC"/>
                </a:solidFill>
                <a:latin typeface="Consolas"/>
              </a:defRPr>
            </a:pPr>
            <a:r>
              <a:t>  aggregation.py        Bin contacts into t_res snapshots, split by day</a:t>
            </a:r>
          </a:p>
          <a:p>
            <a:pPr algn="l">
              <a:spcBef>
                <a:spcPts val="200"/>
              </a:spcBef>
              <a:spcAft>
                <a:spcPts val="100"/>
              </a:spcAft>
              <a:defRPr sz="1300" b="0">
                <a:solidFill>
                  <a:srgbClr val="CCCCCC"/>
                </a:solidFill>
                <a:latin typeface="Consolas"/>
              </a:defRPr>
            </a:pPr>
            <a:r>
              <a:t>  trp.py                Sample non-backtracking TRPs (Algorithm 1)</a:t>
            </a:r>
          </a:p>
          <a:p>
            <a:pPr algn="l">
              <a:spcBef>
                <a:spcPts val="200"/>
              </a:spcBef>
              <a:spcAft>
                <a:spcPts val="100"/>
              </a:spcAft>
              <a:defRPr sz="1300" b="0">
                <a:solidFill>
                  <a:srgbClr val="CCCCCC"/>
                </a:solidFill>
                <a:latin typeface="Consolas"/>
              </a:defRPr>
            </a:pPr>
            <a:r>
              <a:t>  records.py            Extract (current, next, memory_set) transition records</a:t>
            </a:r>
          </a:p>
          <a:p>
            <a:pPr algn="l">
              <a:spcBef>
                <a:spcPts val="200"/>
              </a:spcBef>
              <a:spcAft>
                <a:spcPts val="100"/>
              </a:spcAft>
              <a:defRPr sz="1300" b="0">
                <a:solidFill>
                  <a:srgbClr val="CCCCCC"/>
                </a:solidFill>
                <a:latin typeface="Consolas"/>
              </a:defRPr>
            </a:pPr>
            <a:r>
              <a:t>  models.py             MEM fixed-point solver, MEM+SBM (L-BFGS-B), BIC</a:t>
            </a:r>
          </a:p>
          <a:p>
            <a:pPr algn="l">
              <a:spcBef>
                <a:spcPts val="200"/>
              </a:spcBef>
              <a:spcAft>
                <a:spcPts val="100"/>
              </a:spcAft>
              <a:defRPr sz="1300" b="0">
                <a:solidFill>
                  <a:srgbClr val="CCCCCC"/>
                </a:solidFill>
                <a:latin typeface="Consolas"/>
              </a:defRPr>
            </a:pPr>
            <a:r>
              <a:t>  nulls.py              Erdős–Rényi and Time-Shuffled null graph generators</a:t>
            </a:r>
          </a:p>
          <a:p>
            <a:pPr algn="l">
              <a:spcBef>
                <a:spcPts val="200"/>
              </a:spcBef>
              <a:spcAft>
                <a:spcPts val="100"/>
              </a:spcAft>
              <a:defRPr sz="1300" b="0">
                <a:solidFill>
                  <a:srgbClr val="CCCCCC"/>
                </a:solidFill>
                <a:latin typeface="Consolas"/>
              </a:defRPr>
            </a:pPr>
            <a:r>
              <a:t>  bootstrap.py          Non-parametric bootstrap CIs (B = 200)</a:t>
            </a:r>
          </a:p>
          <a:p>
            <a:pPr algn="l">
              <a:spcBef>
                <a:spcPts val="200"/>
              </a:spcBef>
              <a:spcAft>
                <a:spcPts val="100"/>
              </a:spcAft>
              <a:defRPr sz="1300" b="0">
                <a:solidFill>
                  <a:srgbClr val="CCCCCC"/>
                </a:solidFill>
                <a:latin typeface="Consolas"/>
              </a:defRPr>
            </a:pPr>
            <a:r>
              <a:t>  timevarying.py        Clock-time binned memory p(t)</a:t>
            </a:r>
          </a:p>
          <a:p>
            <a:pPr algn="l">
              <a:spcBef>
                <a:spcPts val="200"/>
              </a:spcBef>
              <a:spcAft>
                <a:spcPts val="100"/>
              </a:spcAft>
              <a:defRPr sz="1300" b="0">
                <a:solidFill>
                  <a:srgbClr val="CCCCCC"/>
                </a:solidFill>
                <a:latin typeface="Consolas"/>
              </a:defRPr>
            </a:pPr>
            <a:r>
              <a:t>  generator.py          Synthetic memory network generator</a:t>
            </a:r>
          </a:p>
          <a:p>
            <a:pPr algn="l">
              <a:spcBef>
                <a:spcPts val="200"/>
              </a:spcBef>
              <a:spcAft>
                <a:spcPts val="100"/>
              </a:spcAft>
              <a:defRPr sz="1300" b="0">
                <a:solidFill>
                  <a:srgbClr val="CCCCCC"/>
                </a:solidFill>
                <a:latin typeface="Consolas"/>
              </a:defRPr>
            </a:pPr>
            <a:r>
              <a:t>  diffusion.py          Heat diffusion on synthetic networks</a:t>
            </a:r>
          </a:p>
          <a:p>
            <a:pPr algn="l">
              <a:spcBef>
                <a:spcPts val="200"/>
              </a:spcBef>
              <a:spcAft>
                <a:spcPts val="100"/>
              </a:spcAft>
              <a:defRPr sz="1300" b="0">
                <a:solidFill>
                  <a:srgbClr val="CCCCCC"/>
                </a:solidFill>
                <a:latin typeface="Consolas"/>
              </a:defRPr>
            </a:pPr>
            <a:r>
              <a:t>  sir.py                SIR epidemic + rate calibration + interventions</a:t>
            </a:r>
          </a:p>
          <a:p>
            <a:pPr algn="l">
              <a:spcBef>
                <a:spcPts val="200"/>
              </a:spcBef>
              <a:spcAft>
                <a:spcPts val="100"/>
              </a:spcAft>
              <a:defRPr sz="1300" b="0">
                <a:solidFill>
                  <a:srgbClr val="CCCCCC"/>
                </a:solidFill>
                <a:latin typeface="Consolas"/>
              </a:defRPr>
            </a:pPr>
            <a:r>
              <a:t>  plotting.py           All Matplotlib figure routines</a:t>
            </a:r>
          </a:p>
        </p:txBody>
      </p:sp>
      <p:sp>
        <p:nvSpPr>
          <p:cNvPr id="5" name="Rounded Rectangle 4"/>
          <p:cNvSpPr/>
          <p:nvPr/>
        </p:nvSpPr>
        <p:spPr>
          <a:xfrm>
            <a:off x="6583680" y="1463040"/>
            <a:ext cx="4846320" cy="2286000"/>
          </a:xfrm>
          <a:prstGeom prst="roundRect">
            <a:avLst/>
          </a:prstGeom>
          <a:solidFill>
            <a:srgbClr val="252540"/>
          </a:solidFill>
          <a:ln w="19050">
            <a:solidFill>
              <a:srgbClr val="2EC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ECCA8"/>
                </a:solidFill>
              </a:defRPr>
            </a:pPr>
            <a:r>
              <a:t>Package at a Glance</a:t>
            </a:r>
          </a:p>
          <a:p>
            <a:pPr algn="l">
              <a:spcBef>
                <a:spcPts val="600"/>
              </a:spcBef>
              <a:spcAft>
                <a:spcPts val="400"/>
              </a:spcAft>
              <a:defRPr sz="600" b="0">
                <a:solidFill>
                  <a:srgbClr val="CCCCCC"/>
                </a:solidFill>
                <a:latin typeface="Calibri"/>
              </a:defRPr>
            </a:pPr>
          </a:p>
          <a:p>
            <a:pPr algn="ctr">
              <a:spcBef>
                <a:spcPts val="600"/>
              </a:spcBef>
              <a:spcAft>
                <a:spcPts val="400"/>
              </a:spcAft>
              <a:defRPr sz="1500" b="0">
                <a:solidFill>
                  <a:srgbClr val="FFFFFF"/>
                </a:solidFill>
                <a:latin typeface="Calibri"/>
              </a:defRPr>
            </a:pPr>
            <a:r>
              <a:t>  12 core modules   •   11 experiment scripts</a:t>
            </a:r>
          </a:p>
          <a:p>
            <a:pPr algn="ctr">
              <a:spcBef>
                <a:spcPts val="600"/>
              </a:spcBef>
              <a:spcAft>
                <a:spcPts val="400"/>
              </a:spcAft>
              <a:defRPr sz="1500" b="0">
                <a:solidFill>
                  <a:srgbClr val="FFFFFF"/>
                </a:solidFill>
                <a:latin typeface="Calibri"/>
              </a:defRPr>
            </a:pPr>
            <a:r>
              <a:t>  44 unit tests  •  pip-installable package</a:t>
            </a:r>
          </a:p>
          <a:p>
            <a:pPr algn="ctr">
              <a:spcBef>
                <a:spcPts val="600"/>
              </a:spcBef>
              <a:spcAft>
                <a:spcPts val="400"/>
              </a:spcAft>
              <a:defRPr sz="1500" b="0">
                <a:solidFill>
                  <a:srgbClr val="2ECCA8"/>
                </a:solidFill>
                <a:latin typeface="Calibri"/>
              </a:defRPr>
            </a:pPr>
            <a:r>
              <a:t>  Interactive Streamlit dashboard (app.py)</a:t>
            </a:r>
          </a:p>
          <a:p>
            <a:pPr algn="ctr">
              <a:spcBef>
                <a:spcPts val="600"/>
              </a:spcBef>
              <a:spcAft>
                <a:spcPts val="400"/>
              </a:spcAft>
              <a:defRPr sz="1500" b="0">
                <a:solidFill>
                  <a:srgbClr val="FFFFFF"/>
                </a:solidFill>
                <a:latin typeface="Calibri"/>
              </a:defRPr>
            </a:pPr>
            <a:r>
              <a:t>  Jupyter notebook demo</a:t>
            </a:r>
          </a:p>
        </p:txBody>
      </p:sp>
      <p:sp>
        <p:nvSpPr>
          <p:cNvPr id="6" name="Rounded Rectangle 5"/>
          <p:cNvSpPr/>
          <p:nvPr/>
        </p:nvSpPr>
        <p:spPr>
          <a:xfrm>
            <a:off x="6583680" y="4023360"/>
            <a:ext cx="4846320" cy="2560320"/>
          </a:xfrm>
          <a:prstGeom prst="roundRect">
            <a:avLst/>
          </a:prstGeom>
          <a:solidFill>
            <a:srgbClr val="252540"/>
          </a:solidFill>
          <a:ln w="19050">
            <a:solidFill>
              <a:srgbClr val="E88D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88D3F"/>
                </a:solidFill>
              </a:defRPr>
            </a:pPr>
            <a:r>
              <a:t>Key Design Choices</a:t>
            </a:r>
          </a:p>
          <a:p>
            <a:pPr algn="l">
              <a:spcBef>
                <a:spcPts val="600"/>
              </a:spcBef>
              <a:spcAft>
                <a:spcPts val="400"/>
              </a:spcAft>
              <a:defRPr sz="400" b="0">
                <a:solidFill>
                  <a:srgbClr val="CCCCCC"/>
                </a:solidFill>
                <a:latin typeface="Calibri"/>
              </a:defRPr>
            </a:pPr>
          </a:p>
          <a:p>
            <a:pPr algn="l">
              <a:spcBef>
                <a:spcPts val="600"/>
              </a:spcBef>
              <a:spcAft>
                <a:spcPts val="400"/>
              </a:spcAft>
              <a:defRPr sz="1400" b="0">
                <a:solidFill>
                  <a:srgbClr val="CCCCCC"/>
                </a:solidFill>
                <a:latin typeface="Calibri"/>
              </a:defRPr>
            </a:pPr>
            <a:r>
              <a:t>  ✓  All parameters in config.py (no magic numbers)</a:t>
            </a:r>
          </a:p>
          <a:p>
            <a:pPr algn="l">
              <a:spcBef>
                <a:spcPts val="600"/>
              </a:spcBef>
              <a:spcAft>
                <a:spcPts val="400"/>
              </a:spcAft>
              <a:defRPr sz="1400" b="0">
                <a:solidFill>
                  <a:srgbClr val="CCCCCC"/>
                </a:solidFill>
                <a:latin typeface="Calibri"/>
              </a:defRPr>
            </a:pPr>
            <a:r>
              <a:t>  ✓  Explicit RNG seeds for full reproducibility</a:t>
            </a:r>
          </a:p>
          <a:p>
            <a:pPr algn="l">
              <a:spcBef>
                <a:spcPts val="600"/>
              </a:spcBef>
              <a:spcAft>
                <a:spcPts val="400"/>
              </a:spcAft>
              <a:defRPr sz="1400" b="0">
                <a:solidFill>
                  <a:srgbClr val="CCCCCC"/>
                </a:solidFill>
                <a:latin typeface="Calibri"/>
              </a:defRPr>
            </a:pPr>
            <a:r>
              <a:t>  ✓  Damped Mann iteration for guaranteed convergence</a:t>
            </a:r>
          </a:p>
          <a:p>
            <a:pPr algn="l">
              <a:spcBef>
                <a:spcPts val="600"/>
              </a:spcBef>
              <a:spcAft>
                <a:spcPts val="400"/>
              </a:spcAft>
              <a:defRPr sz="1400" b="0">
                <a:solidFill>
                  <a:srgbClr val="CCCCCC"/>
                </a:solidFill>
                <a:latin typeface="Calibri"/>
              </a:defRPr>
            </a:pPr>
            <a:r>
              <a:t>  ✓  L-BFGS-B on log(C) for numeric stability</a:t>
            </a:r>
          </a:p>
          <a:p>
            <a:pPr algn="l">
              <a:spcBef>
                <a:spcPts val="600"/>
              </a:spcBef>
              <a:spcAft>
                <a:spcPts val="400"/>
              </a:spcAft>
              <a:defRPr sz="1400" b="0">
                <a:solidFill>
                  <a:srgbClr val="CCCCCC"/>
                </a:solidFill>
                <a:latin typeface="Calibri"/>
              </a:defRPr>
            </a:pPr>
            <a:r>
              <a:t>  ✓  Type hints + docstrings on every function</a:t>
            </a:r>
          </a:p>
          <a:p>
            <a:pPr algn="l">
              <a:spcBef>
                <a:spcPts val="600"/>
              </a:spcBef>
              <a:spcAft>
                <a:spcPts val="400"/>
              </a:spcAft>
              <a:defRPr sz="1400" b="0">
                <a:solidFill>
                  <a:srgbClr val="CCCCCC"/>
                </a:solidFill>
                <a:latin typeface="Calibri"/>
              </a:defRPr>
            </a:pPr>
            <a:r>
              <a:t>  ✓  Comprehensive pytest test suite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Time-Respecting Paths: How We Sample Them</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303520" cy="5029200"/>
          </a:xfrm>
          <a:prstGeom prst="rect">
            <a:avLst/>
          </a:prstGeom>
          <a:noFill/>
        </p:spPr>
        <p:txBody>
          <a:bodyPr wrap="square">
            <a:spAutoFit/>
          </a:bodyPr>
          <a:lstStyle/>
          <a:p>
            <a:pPr algn="l">
              <a:lnSpc>
                <a:spcPts val="2000"/>
              </a:lnSpc>
              <a:defRPr sz="1800" b="1">
                <a:solidFill>
                  <a:srgbClr val="4EA8DE"/>
                </a:solidFill>
                <a:latin typeface="Calibri"/>
              </a:defRPr>
            </a:pPr>
            <a:r>
              <a:t>Algorithm (from paper's Algorithm 1)</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FFFFFF"/>
                </a:solidFill>
                <a:latin typeface="Calibri"/>
              </a:defRPr>
            </a:pPr>
            <a:r>
              <a:t>1.  Pick a random snapshot t₀ and a random active edge (u, v)</a:t>
            </a:r>
          </a:p>
          <a:p>
            <a:pPr algn="l" lvl="1">
              <a:spcBef>
                <a:spcPts val="600"/>
              </a:spcBef>
              <a:spcAft>
                <a:spcPts val="400"/>
              </a:spcAft>
              <a:defRPr sz="1400" b="0">
                <a:solidFill>
                  <a:srgbClr val="999999"/>
                </a:solidFill>
                <a:latin typeface="Calibri"/>
              </a:defRPr>
            </a:pPr>
            <a:r>
              <a:t>     → This is the seed: path = [u, v] starting at time t₀</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FFFFFF"/>
                </a:solidFill>
                <a:latin typeface="Calibri"/>
              </a:defRPr>
            </a:pPr>
            <a:r>
              <a:t>2.  Find the end-of-interaction: the last consecutive snapshot</a:t>
            </a:r>
          </a:p>
          <a:p>
            <a:pPr algn="l">
              <a:spcBef>
                <a:spcPts val="600"/>
              </a:spcBef>
              <a:spcAft>
                <a:spcPts val="400"/>
              </a:spcAft>
              <a:defRPr sz="1600" b="0">
                <a:solidFill>
                  <a:srgbClr val="FFFFFF"/>
                </a:solidFill>
                <a:latin typeface="Calibri"/>
              </a:defRPr>
            </a:pPr>
            <a:r>
              <a:t>     where u and v are still in contact</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FFFFFF"/>
                </a:solidFill>
                <a:latin typeface="Calibri"/>
              </a:defRPr>
            </a:pPr>
            <a:r>
              <a:t>3.  At the next available snapshot (t ≥ t_end), look at all</a:t>
            </a:r>
          </a:p>
          <a:p>
            <a:pPr algn="l">
              <a:spcBef>
                <a:spcPts val="600"/>
              </a:spcBef>
              <a:spcAft>
                <a:spcPts val="400"/>
              </a:spcAft>
              <a:defRPr sz="1600" b="0">
                <a:solidFill>
                  <a:srgbClr val="FFFFFF"/>
                </a:solidFill>
                <a:latin typeface="Calibri"/>
              </a:defRPr>
            </a:pPr>
            <a:r>
              <a:t>     neighbors of v that are NOT u (non-backtracking)</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FFFFFF"/>
                </a:solidFill>
                <a:latin typeface="Calibri"/>
              </a:defRPr>
            </a:pPr>
            <a:r>
              <a:t>4.  Pick the next node w proportional to contact weights</a:t>
            </a:r>
          </a:p>
          <a:p>
            <a:pPr algn="l">
              <a:spcBef>
                <a:spcPts val="600"/>
              </a:spcBef>
              <a:spcAft>
                <a:spcPts val="400"/>
              </a:spcAft>
              <a:defRPr sz="600" b="0">
                <a:solidFill>
                  <a:srgbClr val="CCCCCC"/>
                </a:solidFill>
                <a:latin typeface="Calibri"/>
              </a:defRPr>
            </a:pPr>
          </a:p>
          <a:p>
            <a:pPr algn="l">
              <a:spcBef>
                <a:spcPts val="600"/>
              </a:spcBef>
              <a:spcAft>
                <a:spcPts val="400"/>
              </a:spcAft>
              <a:defRPr sz="1600" b="1">
                <a:solidFill>
                  <a:srgbClr val="2ECCA8"/>
                </a:solidFill>
                <a:latin typeface="Calibri"/>
              </a:defRPr>
            </a:pPr>
            <a:r>
              <a:t>5.  Repeat until path reaches length L = 30 steps</a:t>
            </a:r>
          </a:p>
        </p:txBody>
      </p:sp>
      <p:sp>
        <p:nvSpPr>
          <p:cNvPr id="5" name="Rounded Rectangle 4"/>
          <p:cNvSpPr/>
          <p:nvPr/>
        </p:nvSpPr>
        <p:spPr>
          <a:xfrm>
            <a:off x="6583680" y="1463040"/>
            <a:ext cx="4846320" cy="2286000"/>
          </a:xfrm>
          <a:prstGeom prst="roundRect">
            <a:avLst/>
          </a:prstGeom>
          <a:solidFill>
            <a:srgbClr val="252540"/>
          </a:solidFill>
          <a:ln w="19050">
            <a:solidFill>
              <a:srgbClr val="2EC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ECCA8"/>
                </a:solidFill>
              </a:defRPr>
            </a:pPr>
            <a:r>
              <a:t>Our Parameters</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FFFFFF"/>
                </a:solidFill>
                <a:latin typeface="Calibri"/>
              </a:defRPr>
            </a:pPr>
            <a:r>
              <a:t>  Path length L = 30 steps</a:t>
            </a:r>
          </a:p>
          <a:p>
            <a:pPr algn="l">
              <a:spcBef>
                <a:spcPts val="600"/>
              </a:spcBef>
              <a:spcAft>
                <a:spcPts val="400"/>
              </a:spcAft>
              <a:defRPr sz="1500" b="0">
                <a:solidFill>
                  <a:srgbClr val="FFFFFF"/>
                </a:solidFill>
                <a:latin typeface="Calibri"/>
              </a:defRPr>
            </a:pPr>
            <a:r>
              <a:t>  20,000 paths per measurement</a:t>
            </a:r>
          </a:p>
          <a:p>
            <a:pPr algn="l">
              <a:spcBef>
                <a:spcPts val="600"/>
              </a:spcBef>
              <a:spcAft>
                <a:spcPts val="400"/>
              </a:spcAft>
              <a:defRPr sz="1500" b="0">
                <a:solidFill>
                  <a:srgbClr val="FFFFFF"/>
                </a:solidFill>
                <a:latin typeface="Calibri"/>
              </a:defRPr>
            </a:pPr>
            <a:r>
              <a:t>  t_res = 20 seconds (snapshot window)</a:t>
            </a:r>
          </a:p>
          <a:p>
            <a:pPr algn="l">
              <a:spcBef>
                <a:spcPts val="600"/>
              </a:spcBef>
              <a:spcAft>
                <a:spcPts val="400"/>
              </a:spcAft>
              <a:defRPr sz="1500" b="0">
                <a:solidFill>
                  <a:srgbClr val="FFFFFF"/>
                </a:solidFill>
                <a:latin typeface="Calibri"/>
              </a:defRPr>
            </a:pPr>
            <a:r>
              <a:t>  Memory horizon m ∈ {1, 2, ..., 20}</a:t>
            </a:r>
          </a:p>
          <a:p>
            <a:pPr algn="l">
              <a:spcBef>
                <a:spcPts val="600"/>
              </a:spcBef>
              <a:spcAft>
                <a:spcPts val="400"/>
              </a:spcAft>
              <a:defRPr sz="1500" b="0">
                <a:solidFill>
                  <a:srgbClr val="999999"/>
                </a:solidFill>
                <a:latin typeface="Calibri"/>
              </a:defRPr>
            </a:pPr>
            <a:r>
              <a:t>  Max 1000 retries per path</a:t>
            </a:r>
          </a:p>
        </p:txBody>
      </p:sp>
      <p:sp>
        <p:nvSpPr>
          <p:cNvPr id="6" name="Rounded Rectangle 5"/>
          <p:cNvSpPr/>
          <p:nvPr/>
        </p:nvSpPr>
        <p:spPr>
          <a:xfrm>
            <a:off x="6583680" y="4114800"/>
            <a:ext cx="4846320" cy="2286000"/>
          </a:xfrm>
          <a:prstGeom prst="roundRect">
            <a:avLst/>
          </a:prstGeom>
          <a:solidFill>
            <a:srgbClr val="252540"/>
          </a:solidFill>
          <a:ln w="19050">
            <a:solidFill>
              <a:srgbClr val="E88D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88D3F"/>
                </a:solidFill>
              </a:defRPr>
            </a:pPr>
            <a:r>
              <a:t>Two Key Constraints</a:t>
            </a:r>
          </a:p>
          <a:p>
            <a:pPr algn="l">
              <a:spcBef>
                <a:spcPts val="600"/>
              </a:spcBef>
              <a:spcAft>
                <a:spcPts val="400"/>
              </a:spcAft>
              <a:defRPr sz="600" b="0">
                <a:solidFill>
                  <a:srgbClr val="CCCCCC"/>
                </a:solidFill>
                <a:latin typeface="Calibri"/>
              </a:defRPr>
            </a:pPr>
          </a:p>
          <a:p>
            <a:pPr algn="l">
              <a:spcBef>
                <a:spcPts val="600"/>
              </a:spcBef>
              <a:spcAft>
                <a:spcPts val="400"/>
              </a:spcAft>
              <a:defRPr sz="1500" b="1">
                <a:solidFill>
                  <a:srgbClr val="FFFFFF"/>
                </a:solidFill>
                <a:latin typeface="Calibri"/>
              </a:defRPr>
            </a:pPr>
            <a:r>
              <a:t>  ⏱  Time-respecting:</a:t>
            </a:r>
          </a:p>
          <a:p>
            <a:pPr algn="l">
              <a:spcBef>
                <a:spcPts val="600"/>
              </a:spcBef>
              <a:spcAft>
                <a:spcPts val="400"/>
              </a:spcAft>
              <a:defRPr sz="1400" b="0">
                <a:solidFill>
                  <a:srgbClr val="CCCCCC"/>
                </a:solidFill>
                <a:latin typeface="Calibri"/>
              </a:defRPr>
            </a:pPr>
            <a:r>
              <a:t>     t_{a+1} ≥ t_a  (time only moves forward)</a:t>
            </a:r>
          </a:p>
          <a:p>
            <a:pPr algn="l">
              <a:spcBef>
                <a:spcPts val="600"/>
              </a:spcBef>
              <a:spcAft>
                <a:spcPts val="400"/>
              </a:spcAft>
              <a:defRPr sz="600" b="0">
                <a:solidFill>
                  <a:srgbClr val="CCCCCC"/>
                </a:solidFill>
                <a:latin typeface="Calibri"/>
              </a:defRPr>
            </a:pPr>
          </a:p>
          <a:p>
            <a:pPr algn="l">
              <a:spcBef>
                <a:spcPts val="600"/>
              </a:spcBef>
              <a:spcAft>
                <a:spcPts val="400"/>
              </a:spcAft>
              <a:defRPr sz="1500" b="1">
                <a:solidFill>
                  <a:srgbClr val="FFFFFF"/>
                </a:solidFill>
                <a:latin typeface="Calibri"/>
              </a:defRPr>
            </a:pPr>
            <a:r>
              <a:t>  ↩  Non-backtracking:</a:t>
            </a:r>
          </a:p>
          <a:p>
            <a:pPr algn="l">
              <a:spcBef>
                <a:spcPts val="600"/>
              </a:spcBef>
              <a:spcAft>
                <a:spcPts val="400"/>
              </a:spcAft>
              <a:defRPr sz="1400" b="0">
                <a:solidFill>
                  <a:srgbClr val="CCCCCC"/>
                </a:solidFill>
                <a:latin typeface="Calibri"/>
              </a:defRPr>
            </a:pPr>
            <a:r>
              <a:t>     v_{a+1} ≠ v_{a−1}  (can't go right 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The MEM Model: Estimating Memory Parameter p</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303520" cy="5029200"/>
          </a:xfrm>
          <a:prstGeom prst="rect">
            <a:avLst/>
          </a:prstGeom>
          <a:noFill/>
        </p:spPr>
        <p:txBody>
          <a:bodyPr wrap="square">
            <a:spAutoFit/>
          </a:bodyPr>
          <a:lstStyle/>
          <a:p>
            <a:pPr algn="l">
              <a:lnSpc>
                <a:spcPts val="2000"/>
              </a:lnSpc>
              <a:defRPr sz="1800" b="1">
                <a:solidFill>
                  <a:srgbClr val="4EA8DE"/>
                </a:solidFill>
                <a:latin typeface="Calibri"/>
              </a:defRPr>
            </a:pPr>
            <a:r>
              <a:t>From Paths to Records to Likelihood</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Step 1: Build Transition Records</a:t>
            </a:r>
          </a:p>
          <a:p>
            <a:pPr algn="l">
              <a:spcBef>
                <a:spcPts val="600"/>
              </a:spcBef>
              <a:spcAft>
                <a:spcPts val="400"/>
              </a:spcAft>
              <a:defRPr sz="1500" b="0">
                <a:solidFill>
                  <a:srgbClr val="CCCCCC"/>
                </a:solidFill>
                <a:latin typeface="Calibri"/>
              </a:defRPr>
            </a:pPr>
            <a:r>
              <a:t>  For each step in each path, record:</a:t>
            </a:r>
          </a:p>
          <a:p>
            <a:pPr algn="l">
              <a:spcBef>
                <a:spcPts val="600"/>
              </a:spcBef>
              <a:spcAft>
                <a:spcPts val="400"/>
              </a:spcAft>
              <a:defRPr sz="1500" b="0">
                <a:solidFill>
                  <a:srgbClr val="CCCCCC"/>
                </a:solidFill>
                <a:latin typeface="Calibri"/>
              </a:defRPr>
            </a:pPr>
            <a:r>
              <a:t>    • Current node (where are we now)</a:t>
            </a:r>
          </a:p>
          <a:p>
            <a:pPr algn="l">
              <a:spcBef>
                <a:spcPts val="600"/>
              </a:spcBef>
              <a:spcAft>
                <a:spcPts val="400"/>
              </a:spcAft>
              <a:defRPr sz="1500" b="0">
                <a:solidFill>
                  <a:srgbClr val="CCCCCC"/>
                </a:solidFill>
                <a:latin typeface="Calibri"/>
              </a:defRPr>
            </a:pPr>
            <a:r>
              <a:t>    • Next node (where do we go)</a:t>
            </a:r>
          </a:p>
          <a:p>
            <a:pPr algn="l">
              <a:spcBef>
                <a:spcPts val="600"/>
              </a:spcBef>
              <a:spcAft>
                <a:spcPts val="400"/>
              </a:spcAft>
              <a:defRPr sz="1500" b="0">
                <a:solidFill>
                  <a:srgbClr val="CCCCCC"/>
                </a:solidFill>
                <a:latin typeface="Calibri"/>
              </a:defRPr>
            </a:pPr>
            <a:r>
              <a:t>    • Memory set M (last m unique visited nodes)</a:t>
            </a:r>
          </a:p>
          <a:p>
            <a:pPr algn="l">
              <a:spcBef>
                <a:spcPts val="600"/>
              </a:spcBef>
              <a:spcAft>
                <a:spcPts val="400"/>
              </a:spcAft>
              <a:defRPr sz="1500" b="0">
                <a:solidFill>
                  <a:srgbClr val="2ECCA8"/>
                </a:solidFill>
                <a:latin typeface="Calibri"/>
              </a:defRPr>
            </a:pPr>
            <a:r>
              <a:t>    • Is the next node in M?  → "memory return" event</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Step 2: Maximum Likelihood Estimation</a:t>
            </a:r>
          </a:p>
          <a:p>
            <a:pPr algn="l">
              <a:spcBef>
                <a:spcPts val="600"/>
              </a:spcBef>
              <a:spcAft>
                <a:spcPts val="400"/>
              </a:spcAft>
              <a:defRPr sz="1500" b="0">
                <a:solidFill>
                  <a:srgbClr val="CCCCCC"/>
                </a:solidFill>
                <a:latin typeface="Calibri"/>
              </a:defRPr>
            </a:pPr>
            <a:r>
              <a:t>  Write the log-likelihood over all records</a:t>
            </a:r>
          </a:p>
          <a:p>
            <a:pPr algn="l">
              <a:spcBef>
                <a:spcPts val="600"/>
              </a:spcBef>
              <a:spcAft>
                <a:spcPts val="400"/>
              </a:spcAft>
              <a:defRPr sz="1500" b="0">
                <a:solidFill>
                  <a:srgbClr val="CCCCCC"/>
                </a:solidFill>
                <a:latin typeface="Calibri"/>
              </a:defRPr>
            </a:pPr>
            <a:r>
              <a:t>  Differentiate, set to zero → fixed-point equation for p</a:t>
            </a:r>
          </a:p>
          <a:p>
            <a:pPr algn="l">
              <a:spcBef>
                <a:spcPts val="600"/>
              </a:spcBef>
              <a:spcAft>
                <a:spcPts val="400"/>
              </a:spcAft>
              <a:defRPr sz="600" b="0">
                <a:solidFill>
                  <a:srgbClr val="CCCCCC"/>
                </a:solidFill>
                <a:latin typeface="Calibri"/>
              </a:defRPr>
            </a:pPr>
          </a:p>
          <a:p>
            <a:pPr algn="l">
              <a:spcBef>
                <a:spcPts val="600"/>
              </a:spcBef>
              <a:spcAft>
                <a:spcPts val="400"/>
              </a:spcAft>
              <a:defRPr sz="1700" b="1">
                <a:solidFill>
                  <a:srgbClr val="FFFFFF"/>
                </a:solidFill>
                <a:latin typeface="Calibri"/>
              </a:defRPr>
            </a:pPr>
            <a:r>
              <a:t>Step 3: Iterate Until Convergence</a:t>
            </a:r>
          </a:p>
          <a:p>
            <a:pPr algn="l">
              <a:spcBef>
                <a:spcPts val="600"/>
              </a:spcBef>
              <a:spcAft>
                <a:spcPts val="400"/>
              </a:spcAft>
              <a:defRPr sz="1500" b="0">
                <a:solidFill>
                  <a:srgbClr val="CCCCCC"/>
                </a:solidFill>
                <a:latin typeface="Calibri"/>
              </a:defRPr>
            </a:pPr>
            <a:r>
              <a:t>  p_new = (fraction of returns) adjusted for overlap</a:t>
            </a:r>
          </a:p>
          <a:p>
            <a:pPr algn="l">
              <a:spcBef>
                <a:spcPts val="600"/>
              </a:spcBef>
              <a:spcAft>
                <a:spcPts val="400"/>
              </a:spcAft>
              <a:defRPr sz="1500" b="0">
                <a:solidFill>
                  <a:srgbClr val="2ECCA8"/>
                </a:solidFill>
                <a:latin typeface="Calibri"/>
              </a:defRPr>
            </a:pPr>
            <a:r>
              <a:t>  Apply Mann damping (α = 0.15) for stability</a:t>
            </a:r>
          </a:p>
        </p:txBody>
      </p:sp>
      <p:sp>
        <p:nvSpPr>
          <p:cNvPr id="5" name="Rounded Rectangle 4"/>
          <p:cNvSpPr/>
          <p:nvPr/>
        </p:nvSpPr>
        <p:spPr>
          <a:xfrm>
            <a:off x="6583680" y="1463040"/>
            <a:ext cx="4846320" cy="4572000"/>
          </a:xfrm>
          <a:prstGeom prst="roundRect">
            <a:avLst/>
          </a:prstGeom>
          <a:solidFill>
            <a:srgbClr val="252540"/>
          </a:solidFill>
          <a:ln w="19050">
            <a:solidFill>
              <a:srgbClr val="2EC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ECCA8"/>
                </a:solidFill>
              </a:defRPr>
            </a:pPr>
            <a:r>
              <a:t>Inferred Memory p (m = 10)</a:t>
            </a:r>
          </a:p>
          <a:p>
            <a:pPr algn="l">
              <a:spcBef>
                <a:spcPts val="600"/>
              </a:spcBef>
              <a:spcAft>
                <a:spcPts val="400"/>
              </a:spcAft>
              <a:defRPr sz="600" b="0">
                <a:solidFill>
                  <a:srgbClr val="CCCCCC"/>
                </a:solidFill>
                <a:latin typeface="Calibri"/>
              </a:defRPr>
            </a:pPr>
          </a:p>
          <a:p>
            <a:pPr algn="l">
              <a:spcBef>
                <a:spcPts val="600"/>
              </a:spcBef>
              <a:spcAft>
                <a:spcPts val="400"/>
              </a:spcAft>
              <a:defRPr sz="1300" b="1">
                <a:solidFill>
                  <a:srgbClr val="4EA8DE"/>
                </a:solidFill>
                <a:latin typeface="Consolas"/>
              </a:defRPr>
            </a:pPr>
            <a:r>
              <a:t>  Dataset                     p    ER null</a:t>
            </a:r>
          </a:p>
          <a:p>
            <a:pPr algn="l">
              <a:spcBef>
                <a:spcPts val="100"/>
              </a:spcBef>
              <a:spcAft>
                <a:spcPts val="100"/>
              </a:spcAft>
              <a:defRPr sz="1300" b="0">
                <a:solidFill>
                  <a:srgbClr val="FFFFFF"/>
                </a:solidFill>
                <a:latin typeface="Consolas"/>
              </a:defRPr>
            </a:pPr>
            <a:r>
              <a:t>  Primary School           0.51     ~0.001</a:t>
            </a:r>
          </a:p>
          <a:p>
            <a:pPr algn="l">
              <a:spcBef>
                <a:spcPts val="100"/>
              </a:spcBef>
              <a:spcAft>
                <a:spcPts val="100"/>
              </a:spcAft>
              <a:defRPr sz="1300" b="0">
                <a:solidFill>
                  <a:srgbClr val="FFFFFF"/>
                </a:solidFill>
                <a:latin typeface="Consolas"/>
              </a:defRPr>
            </a:pPr>
            <a:r>
              <a:t>  High School 2011         0.54     ~0.001</a:t>
            </a:r>
          </a:p>
          <a:p>
            <a:pPr algn="l">
              <a:spcBef>
                <a:spcPts val="100"/>
              </a:spcBef>
              <a:spcAft>
                <a:spcPts val="100"/>
              </a:spcAft>
              <a:defRPr sz="1300" b="0">
                <a:solidFill>
                  <a:srgbClr val="FFFFFF"/>
                </a:solidFill>
                <a:latin typeface="Consolas"/>
              </a:defRPr>
            </a:pPr>
            <a:r>
              <a:t>  High School 2012         0.65     ~0.001</a:t>
            </a:r>
          </a:p>
          <a:p>
            <a:pPr algn="l">
              <a:spcBef>
                <a:spcPts val="100"/>
              </a:spcBef>
              <a:spcAft>
                <a:spcPts val="100"/>
              </a:spcAft>
              <a:defRPr sz="1300" b="0">
                <a:solidFill>
                  <a:srgbClr val="FFFFFF"/>
                </a:solidFill>
                <a:latin typeface="Consolas"/>
              </a:defRPr>
            </a:pPr>
            <a:r>
              <a:t>  High School 2013         0.64     ~0.001</a:t>
            </a:r>
          </a:p>
          <a:p>
            <a:pPr algn="l">
              <a:spcBef>
                <a:spcPts val="100"/>
              </a:spcBef>
              <a:spcAft>
                <a:spcPts val="100"/>
              </a:spcAft>
              <a:defRPr sz="1300" b="0">
                <a:solidFill>
                  <a:srgbClr val="FFFFFF"/>
                </a:solidFill>
                <a:latin typeface="Consolas"/>
              </a:defRPr>
            </a:pPr>
            <a:r>
              <a:t>  Workplace                0.61     ~0.002</a:t>
            </a:r>
          </a:p>
          <a:p>
            <a:pPr algn="l">
              <a:spcBef>
                <a:spcPts val="100"/>
              </a:spcBef>
              <a:spcAft>
                <a:spcPts val="100"/>
              </a:spcAft>
              <a:defRPr sz="1300" b="0">
                <a:solidFill>
                  <a:srgbClr val="FFFFFF"/>
                </a:solidFill>
                <a:latin typeface="Consolas"/>
              </a:defRPr>
            </a:pPr>
            <a:r>
              <a:t>  Hospital                 0.64     ~0.001</a:t>
            </a:r>
          </a:p>
          <a:p>
            <a:pPr algn="l">
              <a:spcBef>
                <a:spcPts val="100"/>
              </a:spcBef>
              <a:spcAft>
                <a:spcPts val="100"/>
              </a:spcAft>
              <a:defRPr sz="1300" b="0">
                <a:solidFill>
                  <a:srgbClr val="FFFFFF"/>
                </a:solidFill>
                <a:latin typeface="Consolas"/>
              </a:defRPr>
            </a:pPr>
            <a:r>
              <a:t>  Conference               0.56     ~0.001</a:t>
            </a:r>
          </a:p>
          <a:p>
            <a:pPr algn="l">
              <a:spcBef>
                <a:spcPts val="100"/>
              </a:spcBef>
              <a:spcAft>
                <a:spcPts val="100"/>
              </a:spcAft>
              <a:defRPr sz="1300" b="0">
                <a:solidFill>
                  <a:srgbClr val="FFFFFF"/>
                </a:solidFill>
                <a:latin typeface="Consolas"/>
              </a:defRPr>
            </a:pPr>
            <a:r>
              <a:t>  Malawi Village           0.97     ~0.004</a:t>
            </a:r>
          </a:p>
          <a:p>
            <a:pPr algn="l">
              <a:spcBef>
                <a:spcPts val="600"/>
              </a:spcBef>
              <a:spcAft>
                <a:spcPts val="400"/>
              </a:spcAft>
              <a:defRPr sz="600" b="0">
                <a:solidFill>
                  <a:srgbClr val="CCCCCC"/>
                </a:solidFill>
                <a:latin typeface="Calibri"/>
              </a:defRPr>
            </a:pPr>
          </a:p>
          <a:p>
            <a:pPr algn="ctr">
              <a:spcBef>
                <a:spcPts val="600"/>
              </a:spcBef>
              <a:spcAft>
                <a:spcPts val="400"/>
              </a:spcAft>
              <a:defRPr sz="1400" b="1">
                <a:solidFill>
                  <a:srgbClr val="E88D3F"/>
                </a:solidFill>
                <a:latin typeface="Calibri"/>
              </a:defRPr>
            </a:pPr>
            <a:r>
              <a:t>  All datasets: p &gt;&gt; 0 (strong memory)</a:t>
            </a:r>
          </a:p>
          <a:p>
            <a:pPr algn="ctr">
              <a:spcBef>
                <a:spcPts val="600"/>
              </a:spcBef>
              <a:spcAft>
                <a:spcPts val="400"/>
              </a:spcAft>
              <a:defRPr sz="1400" b="0">
                <a:solidFill>
                  <a:srgbClr val="999999"/>
                </a:solidFill>
                <a:latin typeface="Calibri"/>
              </a:defRPr>
            </a:pPr>
            <a:r>
              <a:t>  ER null: p ≈ 0 (no memory, as expected)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Results: Memory p vs. Horizon m</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Memory increases with look-back window m and plateaus — people have a finite contact memory horizon</a:t>
            </a:r>
          </a:p>
        </p:txBody>
      </p:sp>
      <p:pic>
        <p:nvPicPr>
          <p:cNvPr id="5" name="Picture 4" descr="step15_p_vs_m_all_datasets.png"/>
          <p:cNvPicPr>
            <a:picLocks noChangeAspect="1"/>
          </p:cNvPicPr>
          <p:nvPr/>
        </p:nvPicPr>
        <p:blipFill>
          <a:blip r:embed="rId2"/>
          <a:stretch>
            <a:fillRect/>
          </a:stretch>
        </p:blipFill>
        <p:spPr>
          <a:xfrm>
            <a:off x="914400" y="1828800"/>
            <a:ext cx="10332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Model Selection: MEM vs. MEM+SBM (BIC)</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BIC penalises model complexity — MEM+SBM wins decisively for every labeled dataset (ΔBIC &gt; 6,000)</a:t>
            </a:r>
          </a:p>
        </p:txBody>
      </p:sp>
      <p:pic>
        <p:nvPicPr>
          <p:cNvPr id="5" name="Picture 4" descr="step08_bic_comparison.png"/>
          <p:cNvPicPr>
            <a:picLocks noChangeAspect="1"/>
          </p:cNvPicPr>
          <p:nvPr/>
        </p:nvPicPr>
        <p:blipFill>
          <a:blip r:embed="rId2"/>
          <a:stretch>
            <a:fillRect/>
          </a:stretch>
        </p:blipFill>
        <p:spPr>
          <a:xfrm>
            <a:off x="457200" y="1828800"/>
            <a:ext cx="11247120"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Results: Step-Based vs. Physical Time Resolution</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058400" cy="548640"/>
          </a:xfrm>
          <a:prstGeom prst="rect">
            <a:avLst/>
          </a:prstGeom>
          <a:noFill/>
        </p:spPr>
        <p:txBody>
          <a:bodyPr wrap="square">
            <a:spAutoFit/>
          </a:bodyPr>
          <a:lstStyle/>
          <a:p>
            <a:pPr algn="l">
              <a:lnSpc>
                <a:spcPts val="1800"/>
              </a:lnSpc>
              <a:defRPr sz="1600" b="0">
                <a:solidFill>
                  <a:srgbClr val="CCCCCC"/>
                </a:solidFill>
                <a:latin typeface="Calibri"/>
              </a:defRPr>
            </a:pPr>
            <a:r>
              <a:t>Memory persists across temporal resolutions — it is a robust property, not a measurement artifact</a:t>
            </a:r>
          </a:p>
        </p:txBody>
      </p:sp>
      <p:pic>
        <p:nvPicPr>
          <p:cNvPr id="5" name="Picture 4" descr="step10_fig05_06_heatmaps_side_by_side.png"/>
          <p:cNvPicPr>
            <a:picLocks noChangeAspect="1"/>
          </p:cNvPicPr>
          <p:nvPr/>
        </p:nvPicPr>
        <p:blipFill>
          <a:blip r:embed="rId2"/>
          <a:stretch>
            <a:fillRect/>
          </a:stretch>
        </p:blipFill>
        <p:spPr>
          <a:xfrm>
            <a:off x="457200" y="1828800"/>
            <a:ext cx="5486400" cy="4572000"/>
          </a:xfrm>
          <a:prstGeom prst="rect">
            <a:avLst/>
          </a:prstGeom>
        </p:spPr>
      </p:pic>
      <p:pic>
        <p:nvPicPr>
          <p:cNvPr id="6" name="Picture 5" descr="step10_tau_curves_combined.png"/>
          <p:cNvPicPr>
            <a:picLocks noChangeAspect="1"/>
          </p:cNvPicPr>
          <p:nvPr/>
        </p:nvPicPr>
        <p:blipFill>
          <a:blip r:embed="rId3"/>
          <a:stretch>
            <a:fillRect/>
          </a:stretch>
        </p:blipFill>
        <p:spPr>
          <a:xfrm>
            <a:off x="6217920" y="1828800"/>
            <a:ext cx="5486400"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Null Models: Isolating the Source of Memory</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029200"/>
          </a:xfrm>
          <a:prstGeom prst="rect">
            <a:avLst/>
          </a:prstGeom>
          <a:noFill/>
        </p:spPr>
        <p:txBody>
          <a:bodyPr wrap="square">
            <a:spAutoFit/>
          </a:bodyPr>
          <a:lstStyle/>
          <a:p>
            <a:pPr algn="l">
              <a:lnSpc>
                <a:spcPts val="2000"/>
              </a:lnSpc>
              <a:defRPr sz="1800" b="1">
                <a:solidFill>
                  <a:srgbClr val="4EA8DE"/>
                </a:solidFill>
                <a:latin typeface="Calibri"/>
              </a:defRPr>
            </a:pPr>
            <a:r>
              <a:t>Two Null Models, Two Different Questions</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2ECCA8"/>
                </a:solidFill>
                <a:latin typeface="Calibri"/>
              </a:defRPr>
            </a:pPr>
            <a:r>
              <a:t>Erdős–Rényi (ER) Null</a:t>
            </a:r>
          </a:p>
          <a:p>
            <a:pPr algn="l">
              <a:spcBef>
                <a:spcPts val="600"/>
              </a:spcBef>
              <a:spcAft>
                <a:spcPts val="400"/>
              </a:spcAft>
              <a:defRPr sz="1500" b="0">
                <a:solidFill>
                  <a:srgbClr val="CCCCCC"/>
                </a:solidFill>
                <a:latin typeface="Calibri"/>
              </a:defRPr>
            </a:pPr>
            <a:r>
              <a:t>  • Destroys ALL structure (topology + time)</a:t>
            </a:r>
          </a:p>
          <a:p>
            <a:pPr algn="l">
              <a:spcBef>
                <a:spcPts val="600"/>
              </a:spcBef>
              <a:spcAft>
                <a:spcPts val="400"/>
              </a:spcAft>
              <a:defRPr sz="1500" b="0">
                <a:solidFill>
                  <a:srgbClr val="CCCCCC"/>
                </a:solidFill>
                <a:latin typeface="Calibri"/>
              </a:defRPr>
            </a:pPr>
            <a:r>
              <a:t>  • Preserves only node count and edge density</a:t>
            </a:r>
          </a:p>
          <a:p>
            <a:pPr algn="l">
              <a:spcBef>
                <a:spcPts val="600"/>
              </a:spcBef>
              <a:spcAft>
                <a:spcPts val="400"/>
              </a:spcAft>
              <a:defRPr sz="1500" b="1">
                <a:solidFill>
                  <a:srgbClr val="FFFFFF"/>
                </a:solidFill>
                <a:latin typeface="Calibri"/>
              </a:defRPr>
            </a:pPr>
            <a:r>
              <a:t>  • Result: p ≈ 0 everywhere → confirms memory is real</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E88D3F"/>
                </a:solidFill>
                <a:latin typeface="Calibri"/>
              </a:defRPr>
            </a:pPr>
            <a:r>
              <a:t>Time-Shuffled Null</a:t>
            </a:r>
          </a:p>
          <a:p>
            <a:pPr algn="l">
              <a:spcBef>
                <a:spcPts val="600"/>
              </a:spcBef>
              <a:spcAft>
                <a:spcPts val="400"/>
              </a:spcAft>
              <a:defRPr sz="1500" b="0">
                <a:solidFill>
                  <a:srgbClr val="CCCCCC"/>
                </a:solidFill>
                <a:latin typeface="Calibri"/>
              </a:defRPr>
            </a:pPr>
            <a:r>
              <a:t>  • Keeps each snapshot's exact topology</a:t>
            </a:r>
          </a:p>
          <a:p>
            <a:pPr algn="l">
              <a:spcBef>
                <a:spcPts val="600"/>
              </a:spcBef>
              <a:spcAft>
                <a:spcPts val="400"/>
              </a:spcAft>
              <a:defRPr sz="1500" b="0">
                <a:solidFill>
                  <a:srgbClr val="CCCCCC"/>
                </a:solidFill>
                <a:latin typeface="Calibri"/>
              </a:defRPr>
            </a:pPr>
            <a:r>
              <a:t>  • Randomly permutes the order of snapshots</a:t>
            </a:r>
          </a:p>
          <a:p>
            <a:pPr algn="l">
              <a:spcBef>
                <a:spcPts val="600"/>
              </a:spcBef>
              <a:spcAft>
                <a:spcPts val="400"/>
              </a:spcAft>
              <a:defRPr sz="1500" b="0">
                <a:solidFill>
                  <a:srgbClr val="CCCCCC"/>
                </a:solidFill>
                <a:latin typeface="Calibri"/>
              </a:defRPr>
            </a:pPr>
            <a:r>
              <a:t>  • Destroys temporal ordering (causal chains)</a:t>
            </a:r>
          </a:p>
          <a:p>
            <a:pPr algn="l">
              <a:spcBef>
                <a:spcPts val="600"/>
              </a:spcBef>
              <a:spcAft>
                <a:spcPts val="400"/>
              </a:spcAft>
              <a:defRPr sz="1500" b="0">
                <a:solidFill>
                  <a:srgbClr val="CCCCCC"/>
                </a:solidFill>
                <a:latin typeface="Calibri"/>
              </a:defRPr>
            </a:pPr>
            <a:r>
              <a:t>  • Destroys bursty interaction continuity</a:t>
            </a:r>
          </a:p>
          <a:p>
            <a:pPr algn="l">
              <a:spcBef>
                <a:spcPts val="600"/>
              </a:spcBef>
              <a:spcAft>
                <a:spcPts val="400"/>
              </a:spcAft>
              <a:defRPr sz="1500" b="1">
                <a:solidFill>
                  <a:srgbClr val="FFFFFF"/>
                </a:solidFill>
                <a:latin typeface="Calibri"/>
              </a:defRPr>
            </a:pPr>
            <a:r>
              <a:t>  • If p_shuffled &lt; p_real → temporal order matters!</a:t>
            </a:r>
          </a:p>
        </p:txBody>
      </p:sp>
      <p:pic>
        <p:nvPicPr>
          <p:cNvPr id="5" name="Picture 4" descr="step09_null_comparison_quick.png"/>
          <p:cNvPicPr>
            <a:picLocks noChangeAspect="1"/>
          </p:cNvPicPr>
          <p:nvPr/>
        </p:nvPicPr>
        <p:blipFill>
          <a:blip r:embed="rId2"/>
          <a:stretch>
            <a:fillRect/>
          </a:stretch>
        </p:blipFill>
        <p:spPr>
          <a:xfrm>
            <a:off x="5943600" y="1371600"/>
            <a:ext cx="5760720" cy="5029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Time-Varying Memory: Circadian Dynamics</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Memory is not constant throughout the day — it follows structured circadian patterns</a:t>
            </a:r>
          </a:p>
        </p:txBody>
      </p:sp>
      <p:pic>
        <p:nvPicPr>
          <p:cNvPr id="5" name="Picture 4" descr="step14_time_varying_hourly.png"/>
          <p:cNvPicPr>
            <a:picLocks noChangeAspect="1"/>
          </p:cNvPicPr>
          <p:nvPr/>
        </p:nvPicPr>
        <p:blipFill>
          <a:blip r:embed="rId2"/>
          <a:stretch>
            <a:fillRect/>
          </a:stretch>
        </p:blipFill>
        <p:spPr>
          <a:xfrm>
            <a:off x="274320" y="1737360"/>
            <a:ext cx="5760720" cy="4846320"/>
          </a:xfrm>
          <a:prstGeom prst="rect">
            <a:avLst/>
          </a:prstGeom>
        </p:spPr>
      </p:pic>
      <p:pic>
        <p:nvPicPr>
          <p:cNvPr id="6" name="Picture 5" descr="step14_time_varying_15min.png"/>
          <p:cNvPicPr>
            <a:picLocks noChangeAspect="1"/>
          </p:cNvPicPr>
          <p:nvPr/>
        </p:nvPicPr>
        <p:blipFill>
          <a:blip r:embed="rId3"/>
          <a:stretch>
            <a:fillRect/>
          </a:stretch>
        </p:blipFill>
        <p:spPr>
          <a:xfrm>
            <a:off x="6217920" y="1737360"/>
            <a:ext cx="5760720"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Per-Community Memory: Who Has the Strongest Memory?</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Different communities show different memory levels — patients in hospitals have weaker memory than nurses</a:t>
            </a:r>
          </a:p>
        </p:txBody>
      </p:sp>
      <p:pic>
        <p:nvPicPr>
          <p:cNvPr id="5" name="Picture 4" descr="step16_pc_primaryschool.png"/>
          <p:cNvPicPr>
            <a:picLocks noChangeAspect="1"/>
          </p:cNvPicPr>
          <p:nvPr/>
        </p:nvPicPr>
        <p:blipFill>
          <a:blip r:embed="rId2"/>
          <a:stretch>
            <a:fillRect/>
          </a:stretch>
        </p:blipFill>
        <p:spPr>
          <a:xfrm>
            <a:off x="274320" y="1828800"/>
            <a:ext cx="3657600" cy="4572000"/>
          </a:xfrm>
          <a:prstGeom prst="rect">
            <a:avLst/>
          </a:prstGeom>
        </p:spPr>
      </p:pic>
      <p:pic>
        <p:nvPicPr>
          <p:cNvPr id="6" name="Picture 5" descr="step16_pc_hospital.png"/>
          <p:cNvPicPr>
            <a:picLocks noChangeAspect="1"/>
          </p:cNvPicPr>
          <p:nvPr/>
        </p:nvPicPr>
        <p:blipFill>
          <a:blip r:embed="rId3"/>
          <a:stretch>
            <a:fillRect/>
          </a:stretch>
        </p:blipFill>
        <p:spPr>
          <a:xfrm>
            <a:off x="4114800" y="1828800"/>
            <a:ext cx="3657600" cy="4572000"/>
          </a:xfrm>
          <a:prstGeom prst="rect">
            <a:avLst/>
          </a:prstGeom>
        </p:spPr>
      </p:pic>
      <p:pic>
        <p:nvPicPr>
          <p:cNvPr id="7" name="Picture 6" descr="step16_pc_workplace.png"/>
          <p:cNvPicPr>
            <a:picLocks noChangeAspect="1"/>
          </p:cNvPicPr>
          <p:nvPr/>
        </p:nvPicPr>
        <p:blipFill>
          <a:blip r:embed="rId4"/>
          <a:stretch>
            <a:fillRect/>
          </a:stretch>
        </p:blipFill>
        <p:spPr>
          <a:xfrm>
            <a:off x="7955279" y="1828800"/>
            <a:ext cx="3657600"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Statistical Rigor: Bootstrap Confidence Intervals</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3200400"/>
          </a:xfrm>
          <a:prstGeom prst="rect">
            <a:avLst/>
          </a:prstGeom>
          <a:noFill/>
        </p:spPr>
        <p:txBody>
          <a:bodyPr wrap="square">
            <a:spAutoFit/>
          </a:bodyPr>
          <a:lstStyle/>
          <a:p>
            <a:pPr algn="l">
              <a:lnSpc>
                <a:spcPts val="2000"/>
              </a:lnSpc>
              <a:defRPr sz="1800" b="1">
                <a:solidFill>
                  <a:srgbClr val="4EA8DE"/>
                </a:solidFill>
                <a:latin typeface="Calibri"/>
              </a:defRPr>
            </a:pPr>
            <a:r>
              <a:t>Non-Parametric Bootstrap (B = 200)</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FFFFFF"/>
                </a:solidFill>
                <a:latin typeface="Calibri"/>
              </a:defRPr>
            </a:pPr>
            <a:r>
              <a:t>1.  Resample transition records with replacement</a:t>
            </a:r>
          </a:p>
          <a:p>
            <a:pPr algn="l">
              <a:spcBef>
                <a:spcPts val="600"/>
              </a:spcBef>
              <a:spcAft>
                <a:spcPts val="400"/>
              </a:spcAft>
              <a:defRPr sz="1600" b="0">
                <a:solidFill>
                  <a:srgbClr val="FFFFFF"/>
                </a:solidFill>
                <a:latin typeface="Calibri"/>
              </a:defRPr>
            </a:pPr>
            <a:r>
              <a:t>2.  Re-fit MEM on each bootstrap sample</a:t>
            </a:r>
          </a:p>
          <a:p>
            <a:pPr algn="l">
              <a:spcBef>
                <a:spcPts val="600"/>
              </a:spcBef>
              <a:spcAft>
                <a:spcPts val="400"/>
              </a:spcAft>
              <a:defRPr sz="1600" b="0">
                <a:solidFill>
                  <a:srgbClr val="FFFFFF"/>
                </a:solidFill>
                <a:latin typeface="Calibri"/>
              </a:defRPr>
            </a:pPr>
            <a:r>
              <a:t>3.  Take 2.5th and 97.5th percentiles → 95% CI</a:t>
            </a:r>
          </a:p>
          <a:p>
            <a:pPr algn="l">
              <a:spcBef>
                <a:spcPts val="600"/>
              </a:spcBef>
              <a:spcAft>
                <a:spcPts val="400"/>
              </a:spcAft>
              <a:defRPr sz="800" b="0">
                <a:solidFill>
                  <a:srgbClr val="CCCCCC"/>
                </a:solidFill>
                <a:latin typeface="Calibri"/>
              </a:defRPr>
            </a:pPr>
          </a:p>
          <a:p>
            <a:pPr algn="l">
              <a:spcBef>
                <a:spcPts val="600"/>
              </a:spcBef>
              <a:spcAft>
                <a:spcPts val="400"/>
              </a:spcAft>
              <a:defRPr sz="1600" b="1">
                <a:solidFill>
                  <a:srgbClr val="2ECCA8"/>
                </a:solidFill>
                <a:latin typeface="Calibri"/>
              </a:defRPr>
            </a:pPr>
            <a:r>
              <a:t>Result: Tight confidence bands confirm</a:t>
            </a:r>
          </a:p>
          <a:p>
            <a:pPr algn="l">
              <a:spcBef>
                <a:spcPts val="600"/>
              </a:spcBef>
              <a:spcAft>
                <a:spcPts val="400"/>
              </a:spcAft>
              <a:defRPr sz="1600" b="1">
                <a:solidFill>
                  <a:srgbClr val="2ECCA8"/>
                </a:solidFill>
                <a:latin typeface="Calibri"/>
              </a:defRPr>
            </a:pPr>
            <a:r>
              <a:t>that our estimates are statistically stable</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999999"/>
                </a:solidFill>
                <a:latin typeface="Calibri"/>
              </a:defRPr>
            </a:pPr>
            <a:r>
              <a:t>Typical CI width: ±0.005 to ±0.015</a:t>
            </a:r>
          </a:p>
        </p:txBody>
      </p:sp>
      <p:pic>
        <p:nvPicPr>
          <p:cNvPr id="5" name="Picture 4" descr="step15_p_vs_m_primaryschool.png"/>
          <p:cNvPicPr>
            <a:picLocks noChangeAspect="1"/>
          </p:cNvPicPr>
          <p:nvPr/>
        </p:nvPicPr>
        <p:blipFill>
          <a:blip r:embed="rId2"/>
          <a:stretch>
            <a:fillRect/>
          </a:stretch>
        </p:blipFill>
        <p:spPr>
          <a:xfrm>
            <a:off x="5943600" y="1188720"/>
            <a:ext cx="5760720" cy="5303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lnSpc>
                <a:spcPts val="3400"/>
              </a:lnSpc>
              <a:defRPr sz="3000" b="1">
                <a:solidFill>
                  <a:srgbClr val="E88D3F"/>
                </a:solidFill>
                <a:latin typeface="Calibri Light"/>
              </a:defRPr>
            </a:pPr>
            <a:r>
              <a:t>★ Add-On: Synthetic Network Generator &amp; Diffusion</a:t>
            </a:r>
          </a:p>
        </p:txBody>
      </p:sp>
      <p:sp>
        <p:nvSpPr>
          <p:cNvPr id="3" name="Rectangle 2"/>
          <p:cNvSpPr/>
          <p:nvPr/>
        </p:nvSpPr>
        <p:spPr>
          <a:xfrm>
            <a:off x="731520" y="914400"/>
            <a:ext cx="2286000" cy="381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Beyond the paper — we built a generative model to test how memory affects information spreading</a:t>
            </a:r>
          </a:p>
        </p:txBody>
      </p:sp>
      <p:sp>
        <p:nvSpPr>
          <p:cNvPr id="5" name="TextBox 4"/>
          <p:cNvSpPr txBox="1"/>
          <p:nvPr/>
        </p:nvSpPr>
        <p:spPr>
          <a:xfrm>
            <a:off x="731520" y="1645920"/>
            <a:ext cx="5029200" cy="4572000"/>
          </a:xfrm>
          <a:prstGeom prst="rect">
            <a:avLst/>
          </a:prstGeom>
          <a:noFill/>
        </p:spPr>
        <p:txBody>
          <a:bodyPr wrap="square">
            <a:spAutoFit/>
          </a:bodyPr>
          <a:lstStyle/>
          <a:p>
            <a:pPr algn="l">
              <a:lnSpc>
                <a:spcPts val="2000"/>
              </a:lnSpc>
              <a:defRPr sz="1800" b="1">
                <a:solidFill>
                  <a:srgbClr val="2ECCA8"/>
                </a:solidFill>
                <a:latin typeface="Calibri"/>
              </a:defRPr>
            </a:pPr>
            <a:r>
              <a:t>Synthetic Network Generator</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CCCCCC"/>
                </a:solidFill>
                <a:latin typeface="Calibri"/>
              </a:defRPr>
            </a:pPr>
            <a:r>
              <a:t>Generates temporal networks with controlled memory:</a:t>
            </a:r>
          </a:p>
          <a:p>
            <a:pPr algn="l">
              <a:spcBef>
                <a:spcPts val="600"/>
              </a:spcBef>
              <a:spcAft>
                <a:spcPts val="400"/>
              </a:spcAft>
              <a:defRPr sz="1500" b="0">
                <a:solidFill>
                  <a:srgbClr val="FFFFFF"/>
                </a:solidFill>
                <a:latin typeface="Calibri"/>
              </a:defRPr>
            </a:pPr>
            <a:r>
              <a:t>  • Mixing parameter α ∈ [0, 1]</a:t>
            </a:r>
          </a:p>
          <a:p>
            <a:pPr algn="l" lvl="1">
              <a:spcBef>
                <a:spcPts val="600"/>
              </a:spcBef>
              <a:spcAft>
                <a:spcPts val="400"/>
              </a:spcAft>
              <a:defRPr sz="1400" b="0">
                <a:solidFill>
                  <a:srgbClr val="999999"/>
                </a:solidFill>
                <a:latin typeface="Calibri"/>
              </a:defRPr>
            </a:pPr>
            <a:r>
              <a:t>    α = 0: pure Markov (no memory)</a:t>
            </a:r>
          </a:p>
          <a:p>
            <a:pPr algn="l" lvl="1">
              <a:spcBef>
                <a:spcPts val="600"/>
              </a:spcBef>
              <a:spcAft>
                <a:spcPts val="400"/>
              </a:spcAft>
              <a:defRPr sz="1400" b="0">
                <a:solidFill>
                  <a:srgbClr val="999999"/>
                </a:solidFill>
                <a:latin typeface="Calibri"/>
              </a:defRPr>
            </a:pPr>
            <a:r>
              <a:t>    α = 1: maximum memory (always revisit)</a:t>
            </a:r>
          </a:p>
          <a:p>
            <a:pPr algn="l">
              <a:spcBef>
                <a:spcPts val="600"/>
              </a:spcBef>
              <a:spcAft>
                <a:spcPts val="400"/>
              </a:spcAft>
              <a:defRPr sz="1500" b="0">
                <a:solidFill>
                  <a:srgbClr val="FFFFFF"/>
                </a:solidFill>
                <a:latin typeface="Calibri"/>
              </a:defRPr>
            </a:pPr>
            <a:r>
              <a:t>  • Configurable degree, community structure</a:t>
            </a:r>
          </a:p>
          <a:p>
            <a:pPr algn="l">
              <a:spcBef>
                <a:spcPts val="600"/>
              </a:spcBef>
              <a:spcAft>
                <a:spcPts val="400"/>
              </a:spcAft>
              <a:defRPr sz="1500" b="0">
                <a:solidFill>
                  <a:srgbClr val="FFFFFF"/>
                </a:solidFill>
                <a:latin typeface="Calibri"/>
              </a:defRPr>
            </a:pPr>
            <a:r>
              <a:t>  • 250 nodes, 300 time steps per graph</a:t>
            </a:r>
          </a:p>
          <a:p>
            <a:pPr algn="l">
              <a:spcBef>
                <a:spcPts val="600"/>
              </a:spcBef>
              <a:spcAft>
                <a:spcPts val="400"/>
              </a:spcAft>
              <a:defRPr sz="800" b="0">
                <a:solidFill>
                  <a:srgbClr val="CCCCCC"/>
                </a:solidFill>
                <a:latin typeface="Calibri"/>
              </a:defRPr>
            </a:pPr>
          </a:p>
          <a:p>
            <a:pPr algn="l">
              <a:spcBef>
                <a:spcPts val="600"/>
              </a:spcBef>
              <a:spcAft>
                <a:spcPts val="400"/>
              </a:spcAft>
              <a:defRPr sz="1800" b="1">
                <a:solidFill>
                  <a:srgbClr val="2ECCA8"/>
                </a:solidFill>
                <a:latin typeface="Calibri"/>
              </a:defRPr>
            </a:pPr>
            <a:r>
              <a:t>Heat Diffusion Experiment</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CCCCCC"/>
                </a:solidFill>
                <a:latin typeface="Calibri"/>
              </a:defRPr>
            </a:pPr>
            <a:r>
              <a:t>Run diffusion on synthetic graphs across α:</a:t>
            </a:r>
          </a:p>
          <a:p>
            <a:pPr algn="l">
              <a:spcBef>
                <a:spcPts val="600"/>
              </a:spcBef>
              <a:spcAft>
                <a:spcPts val="400"/>
              </a:spcAft>
              <a:defRPr sz="1500" b="1">
                <a:solidFill>
                  <a:srgbClr val="FFFFFF"/>
                </a:solidFill>
                <a:latin typeface="Calibri"/>
              </a:defRPr>
            </a:pPr>
            <a:r>
              <a:t>  • More memory → slower spreading</a:t>
            </a:r>
          </a:p>
          <a:p>
            <a:pPr algn="l">
              <a:spcBef>
                <a:spcPts val="600"/>
              </a:spcBef>
              <a:spcAft>
                <a:spcPts val="400"/>
              </a:spcAft>
              <a:defRPr sz="1500" b="0">
                <a:solidFill>
                  <a:srgbClr val="FFFFFF"/>
                </a:solidFill>
                <a:latin typeface="Calibri"/>
              </a:defRPr>
            </a:pPr>
            <a:r>
              <a:t>  • Memory concentrates flow in local clusters</a:t>
            </a:r>
          </a:p>
          <a:p>
            <a:pPr algn="l">
              <a:spcBef>
                <a:spcPts val="600"/>
              </a:spcBef>
              <a:spcAft>
                <a:spcPts val="400"/>
              </a:spcAft>
              <a:defRPr sz="1500" b="0">
                <a:solidFill>
                  <a:srgbClr val="FFFFFF"/>
                </a:solidFill>
                <a:latin typeface="Calibri"/>
              </a:defRPr>
            </a:pPr>
            <a:r>
              <a:t>  • Measured via entropy of diffused mass</a:t>
            </a:r>
          </a:p>
        </p:txBody>
      </p:sp>
      <p:pic>
        <p:nvPicPr>
          <p:cNvPr id="6" name="Picture 5" descr="step13_diffusion.png"/>
          <p:cNvPicPr>
            <a:picLocks noChangeAspect="1"/>
          </p:cNvPicPr>
          <p:nvPr/>
        </p:nvPicPr>
        <p:blipFill>
          <a:blip r:embed="rId2"/>
          <a:stretch>
            <a:fillRect/>
          </a:stretch>
        </p:blipFill>
        <p:spPr>
          <a:xfrm>
            <a:off x="5943600" y="1463040"/>
            <a:ext cx="5760720" cy="5029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lnSpc>
                <a:spcPts val="3400"/>
              </a:lnSpc>
              <a:defRPr sz="3000" b="1">
                <a:solidFill>
                  <a:srgbClr val="E88D3F"/>
                </a:solidFill>
                <a:latin typeface="Calibri Light"/>
              </a:defRPr>
            </a:pPr>
            <a:r>
              <a:t>★ Add-On: SIR Epidemic Spreading</a:t>
            </a:r>
          </a:p>
        </p:txBody>
      </p:sp>
      <p:sp>
        <p:nvSpPr>
          <p:cNvPr id="3" name="Rectangle 2"/>
          <p:cNvSpPr/>
          <p:nvPr/>
        </p:nvSpPr>
        <p:spPr>
          <a:xfrm>
            <a:off x="731520" y="914400"/>
            <a:ext cx="2286000" cy="381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058400" cy="457200"/>
          </a:xfrm>
          <a:prstGeom prst="rect">
            <a:avLst/>
          </a:prstGeom>
          <a:noFill/>
        </p:spPr>
        <p:txBody>
          <a:bodyPr wrap="square">
            <a:spAutoFit/>
          </a:bodyPr>
          <a:lstStyle/>
          <a:p>
            <a:pPr algn="l">
              <a:lnSpc>
                <a:spcPts val="1800"/>
              </a:lnSpc>
              <a:defRPr sz="1600" b="0">
                <a:solidFill>
                  <a:srgbClr val="CCCCCC"/>
                </a:solidFill>
                <a:latin typeface="Calibri"/>
              </a:defRPr>
            </a:pPr>
            <a:r>
              <a:t>Does temporal memory affect how epidemics spread on real contact networks?</a:t>
            </a:r>
          </a:p>
        </p:txBody>
      </p:sp>
      <p:pic>
        <p:nvPicPr>
          <p:cNvPr id="5" name="Picture 4" descr="step17_sir_summary.png"/>
          <p:cNvPicPr>
            <a:picLocks noChangeAspect="1"/>
          </p:cNvPicPr>
          <p:nvPr/>
        </p:nvPicPr>
        <p:blipFill>
          <a:blip r:embed="rId2"/>
          <a:stretch>
            <a:fillRect/>
          </a:stretch>
        </p:blipFill>
        <p:spPr>
          <a:xfrm>
            <a:off x="457200" y="1645920"/>
            <a:ext cx="11247120" cy="49377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lnSpc>
                <a:spcPts val="3400"/>
              </a:lnSpc>
              <a:defRPr sz="3000" b="1">
                <a:solidFill>
                  <a:srgbClr val="E88D3F"/>
                </a:solidFill>
                <a:latin typeface="Calibri Light"/>
              </a:defRPr>
            </a:pPr>
            <a:r>
              <a:t>★ Add-On: Targeted Intervention Strategies</a:t>
            </a:r>
          </a:p>
        </p:txBody>
      </p:sp>
      <p:sp>
        <p:nvSpPr>
          <p:cNvPr id="3" name="Rectangle 2"/>
          <p:cNvSpPr/>
          <p:nvPr/>
        </p:nvSpPr>
        <p:spPr>
          <a:xfrm>
            <a:off x="731520" y="914400"/>
            <a:ext cx="2286000" cy="381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058400" cy="548640"/>
          </a:xfrm>
          <a:prstGeom prst="rect">
            <a:avLst/>
          </a:prstGeom>
          <a:noFill/>
        </p:spPr>
        <p:txBody>
          <a:bodyPr wrap="square">
            <a:spAutoFit/>
          </a:bodyPr>
          <a:lstStyle/>
          <a:p>
            <a:pPr algn="l">
              <a:lnSpc>
                <a:spcPts val="1800"/>
              </a:lnSpc>
              <a:defRPr sz="1600" b="0">
                <a:solidFill>
                  <a:srgbClr val="CCCCCC"/>
                </a:solidFill>
                <a:latin typeface="Calibri"/>
              </a:defRPr>
            </a:pPr>
            <a:r>
              <a:t>If you can only isolate 10% of people, who should you pick to minimize epidemic spread?</a:t>
            </a:r>
          </a:p>
        </p:txBody>
      </p:sp>
      <p:pic>
        <p:nvPicPr>
          <p:cNvPr id="5" name="Picture 4" descr="step18_interventions_grid.png"/>
          <p:cNvPicPr>
            <a:picLocks noChangeAspect="1"/>
          </p:cNvPicPr>
          <p:nvPr/>
        </p:nvPicPr>
        <p:blipFill>
          <a:blip r:embed="rId2"/>
          <a:stretch>
            <a:fillRect/>
          </a:stretch>
        </p:blipFill>
        <p:spPr>
          <a:xfrm>
            <a:off x="457200" y="1737360"/>
            <a:ext cx="6400800" cy="4846320"/>
          </a:xfrm>
          <a:prstGeom prst="rect">
            <a:avLst/>
          </a:prstGeom>
        </p:spPr>
      </p:pic>
      <p:sp>
        <p:nvSpPr>
          <p:cNvPr id="6" name="TextBox 5"/>
          <p:cNvSpPr txBox="1"/>
          <p:nvPr/>
        </p:nvSpPr>
        <p:spPr>
          <a:xfrm>
            <a:off x="7132320" y="1737360"/>
            <a:ext cx="4572000" cy="4846320"/>
          </a:xfrm>
          <a:prstGeom prst="rect">
            <a:avLst/>
          </a:prstGeom>
          <a:noFill/>
        </p:spPr>
        <p:txBody>
          <a:bodyPr wrap="square">
            <a:spAutoFit/>
          </a:bodyPr>
          <a:lstStyle/>
          <a:p>
            <a:pPr algn="l">
              <a:lnSpc>
                <a:spcPts val="2000"/>
              </a:lnSpc>
              <a:defRPr sz="1800" b="1">
                <a:solidFill>
                  <a:srgbClr val="4EA8DE"/>
                </a:solidFill>
                <a:latin typeface="Calibri"/>
              </a:defRPr>
            </a:pPr>
            <a:r>
              <a:t>Isolation Strategies Compared</a:t>
            </a:r>
          </a:p>
          <a:p>
            <a:pPr algn="l">
              <a:spcBef>
                <a:spcPts val="600"/>
              </a:spcBef>
              <a:spcAft>
                <a:spcPts val="400"/>
              </a:spcAft>
              <a:defRPr sz="600" b="0">
                <a:solidFill>
                  <a:srgbClr val="CCCCCC"/>
                </a:solidFill>
                <a:latin typeface="Calibri"/>
              </a:defRPr>
            </a:pPr>
          </a:p>
          <a:p>
            <a:pPr algn="l">
              <a:spcBef>
                <a:spcPts val="600"/>
              </a:spcBef>
              <a:spcAft>
                <a:spcPts val="400"/>
              </a:spcAft>
              <a:defRPr sz="1600" b="1">
                <a:solidFill>
                  <a:srgbClr val="E05A5A"/>
                </a:solidFill>
                <a:latin typeface="Calibri"/>
              </a:defRPr>
            </a:pPr>
            <a:r>
              <a:t>None</a:t>
            </a:r>
          </a:p>
          <a:p>
            <a:pPr algn="l">
              <a:spcBef>
                <a:spcPts val="600"/>
              </a:spcBef>
              <a:spcAft>
                <a:spcPts val="400"/>
              </a:spcAft>
              <a:defRPr sz="1400" b="0">
                <a:solidFill>
                  <a:srgbClr val="999999"/>
                </a:solidFill>
                <a:latin typeface="Calibri"/>
              </a:defRPr>
            </a:pPr>
            <a:r>
              <a:t>  No intervention (baseline)</a:t>
            </a:r>
          </a:p>
          <a:p>
            <a:pPr algn="l">
              <a:spcBef>
                <a:spcPts val="600"/>
              </a:spcBef>
              <a:spcAft>
                <a:spcPts val="400"/>
              </a:spcAft>
              <a:defRPr sz="400" b="0">
                <a:solidFill>
                  <a:srgbClr val="CCCCCC"/>
                </a:solidFill>
                <a:latin typeface="Calibri"/>
              </a:defRPr>
            </a:pPr>
          </a:p>
          <a:p>
            <a:pPr algn="l">
              <a:spcBef>
                <a:spcPts val="600"/>
              </a:spcBef>
              <a:spcAft>
                <a:spcPts val="400"/>
              </a:spcAft>
              <a:defRPr sz="1600" b="1">
                <a:solidFill>
                  <a:srgbClr val="FFFFFF"/>
                </a:solidFill>
                <a:latin typeface="Calibri"/>
              </a:defRPr>
            </a:pPr>
            <a:r>
              <a:t>Random</a:t>
            </a:r>
          </a:p>
          <a:p>
            <a:pPr algn="l">
              <a:spcBef>
                <a:spcPts val="600"/>
              </a:spcBef>
              <a:spcAft>
                <a:spcPts val="400"/>
              </a:spcAft>
              <a:defRPr sz="1400" b="0">
                <a:solidFill>
                  <a:srgbClr val="999999"/>
                </a:solidFill>
                <a:latin typeface="Calibri"/>
              </a:defRPr>
            </a:pPr>
            <a:r>
              <a:t>  Remove 10% of nodes at random</a:t>
            </a:r>
          </a:p>
          <a:p>
            <a:pPr algn="l">
              <a:spcBef>
                <a:spcPts val="600"/>
              </a:spcBef>
              <a:spcAft>
                <a:spcPts val="400"/>
              </a:spcAft>
              <a:defRPr sz="400" b="0">
                <a:solidFill>
                  <a:srgbClr val="CCCCCC"/>
                </a:solidFill>
                <a:latin typeface="Calibri"/>
              </a:defRPr>
            </a:pPr>
          </a:p>
          <a:p>
            <a:pPr algn="l">
              <a:spcBef>
                <a:spcPts val="600"/>
              </a:spcBef>
              <a:spcAft>
                <a:spcPts val="400"/>
              </a:spcAft>
              <a:defRPr sz="1600" b="1">
                <a:solidFill>
                  <a:srgbClr val="FFFFFF"/>
                </a:solidFill>
                <a:latin typeface="Calibri"/>
              </a:defRPr>
            </a:pPr>
            <a:r>
              <a:t>Contact Time (highest total)</a:t>
            </a:r>
          </a:p>
          <a:p>
            <a:pPr algn="l">
              <a:spcBef>
                <a:spcPts val="600"/>
              </a:spcBef>
              <a:spcAft>
                <a:spcPts val="400"/>
              </a:spcAft>
              <a:defRPr sz="1400" b="0">
                <a:solidFill>
                  <a:srgbClr val="999999"/>
                </a:solidFill>
                <a:latin typeface="Calibri"/>
              </a:defRPr>
            </a:pPr>
            <a:r>
              <a:t>  Remove super-spreaders by contact volume</a:t>
            </a:r>
          </a:p>
          <a:p>
            <a:pPr algn="l">
              <a:spcBef>
                <a:spcPts val="600"/>
              </a:spcBef>
              <a:spcAft>
                <a:spcPts val="400"/>
              </a:spcAft>
              <a:defRPr sz="400" b="0">
                <a:solidFill>
                  <a:srgbClr val="CCCCCC"/>
                </a:solidFill>
                <a:latin typeface="Calibri"/>
              </a:defRPr>
            </a:pPr>
          </a:p>
          <a:p>
            <a:pPr algn="l">
              <a:spcBef>
                <a:spcPts val="600"/>
              </a:spcBef>
              <a:spcAft>
                <a:spcPts val="400"/>
              </a:spcAft>
              <a:defRPr sz="1600" b="1">
                <a:solidFill>
                  <a:srgbClr val="2ECCA8"/>
                </a:solidFill>
                <a:latin typeface="Calibri"/>
              </a:defRPr>
            </a:pPr>
            <a:r>
              <a:t>Return Rate (our novel metric) ★</a:t>
            </a:r>
          </a:p>
          <a:p>
            <a:pPr algn="l">
              <a:spcBef>
                <a:spcPts val="600"/>
              </a:spcBef>
              <a:spcAft>
                <a:spcPts val="400"/>
              </a:spcAft>
              <a:defRPr sz="1400" b="0">
                <a:solidFill>
                  <a:srgbClr val="2ECCA8"/>
                </a:solidFill>
                <a:latin typeface="Calibri"/>
              </a:defRPr>
            </a:pPr>
            <a:r>
              <a:t>  Remove nodes most likely to revisit</a:t>
            </a:r>
          </a:p>
          <a:p>
            <a:pPr algn="l">
              <a:spcBef>
                <a:spcPts val="600"/>
              </a:spcBef>
              <a:spcAft>
                <a:spcPts val="400"/>
              </a:spcAft>
              <a:defRPr sz="1400" b="0">
                <a:solidFill>
                  <a:srgbClr val="2ECCA8"/>
                </a:solidFill>
                <a:latin typeface="Calibri"/>
              </a:defRPr>
            </a:pPr>
            <a:r>
              <a:t>  recent contacts (memory-informed)</a:t>
            </a:r>
          </a:p>
          <a:p>
            <a:pPr algn="l">
              <a:spcBef>
                <a:spcPts val="600"/>
              </a:spcBef>
              <a:spcAft>
                <a:spcPts val="400"/>
              </a:spcAft>
              <a:defRPr sz="400" b="0">
                <a:solidFill>
                  <a:srgbClr val="CCCCCC"/>
                </a:solidFill>
                <a:latin typeface="Calibri"/>
              </a:defRPr>
            </a:pPr>
          </a:p>
          <a:p>
            <a:pPr algn="l">
              <a:spcBef>
                <a:spcPts val="600"/>
              </a:spcBef>
              <a:spcAft>
                <a:spcPts val="400"/>
              </a:spcAft>
              <a:defRPr sz="1600" b="1">
                <a:solidFill>
                  <a:srgbClr val="FFFFFF"/>
                </a:solidFill>
                <a:latin typeface="Calibri"/>
              </a:defRPr>
            </a:pPr>
            <a:r>
              <a:t>Community Closure</a:t>
            </a:r>
          </a:p>
          <a:p>
            <a:pPr algn="l">
              <a:spcBef>
                <a:spcPts val="600"/>
              </a:spcBef>
              <a:spcAft>
                <a:spcPts val="400"/>
              </a:spcAft>
              <a:defRPr sz="1400" b="0">
                <a:solidFill>
                  <a:srgbClr val="999999"/>
                </a:solidFill>
                <a:latin typeface="Calibri"/>
              </a:defRPr>
            </a:pPr>
            <a:r>
              <a:t>  Remove an entire community/group</a:t>
            </a:r>
          </a:p>
          <a:p>
            <a:pPr algn="l">
              <a:spcBef>
                <a:spcPts val="600"/>
              </a:spcBef>
              <a:spcAft>
                <a:spcPts val="400"/>
              </a:spcAft>
              <a:defRPr sz="800" b="0">
                <a:solidFill>
                  <a:srgbClr val="CCCCCC"/>
                </a:solidFill>
                <a:latin typeface="Calibri"/>
              </a:defRPr>
            </a:pPr>
          </a:p>
          <a:p>
            <a:pPr algn="l">
              <a:spcBef>
                <a:spcPts val="600"/>
              </a:spcBef>
              <a:spcAft>
                <a:spcPts val="400"/>
              </a:spcAft>
              <a:defRPr sz="1500" b="1">
                <a:solidFill>
                  <a:srgbClr val="E88D3F"/>
                </a:solidFill>
                <a:latin typeface="Calibri"/>
              </a:defRPr>
            </a:pPr>
            <a:r>
              <a:t>Key finding: Contact Time and</a:t>
            </a:r>
          </a:p>
          <a:p>
            <a:pPr algn="l">
              <a:spcBef>
                <a:spcPts val="600"/>
              </a:spcBef>
              <a:spcAft>
                <a:spcPts val="400"/>
              </a:spcAft>
              <a:defRPr sz="1500" b="1">
                <a:solidFill>
                  <a:srgbClr val="E88D3F"/>
                </a:solidFill>
                <a:latin typeface="Calibri"/>
              </a:defRPr>
            </a:pPr>
            <a:r>
              <a:t>Return Rate are most effective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lnSpc>
                <a:spcPts val="3400"/>
              </a:lnSpc>
              <a:defRPr sz="3000" b="1">
                <a:solidFill>
                  <a:srgbClr val="E88D3F"/>
                </a:solidFill>
                <a:latin typeface="Calibri Light"/>
              </a:defRPr>
            </a:pPr>
            <a:r>
              <a:t>★ Add-On: Interactive Streamlit Dashboard</a:t>
            </a:r>
          </a:p>
        </p:txBody>
      </p:sp>
      <p:sp>
        <p:nvSpPr>
          <p:cNvPr id="3" name="Rectangle 2"/>
          <p:cNvSpPr/>
          <p:nvPr/>
        </p:nvSpPr>
        <p:spPr>
          <a:xfrm>
            <a:off x="731520" y="914400"/>
            <a:ext cx="2286000" cy="381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515600" cy="5029200"/>
          </a:xfrm>
          <a:prstGeom prst="rect">
            <a:avLst/>
          </a:prstGeom>
          <a:noFill/>
        </p:spPr>
        <p:txBody>
          <a:bodyPr wrap="square">
            <a:spAutoFit/>
          </a:bodyPr>
          <a:lstStyle/>
          <a:p>
            <a:pPr algn="l">
              <a:lnSpc>
                <a:spcPts val="2300"/>
              </a:lnSpc>
              <a:defRPr sz="2000" b="1">
                <a:solidFill>
                  <a:srgbClr val="4EA8DE"/>
                </a:solidFill>
                <a:latin typeface="Calibri"/>
              </a:defRPr>
            </a:pPr>
            <a:r>
              <a:t>Live Web Application (app.py)</a:t>
            </a:r>
          </a:p>
          <a:p>
            <a:pPr algn="l">
              <a:spcBef>
                <a:spcPts val="600"/>
              </a:spcBef>
              <a:spcAft>
                <a:spcPts val="400"/>
              </a:spcAft>
              <a:defRPr sz="600" b="0">
                <a:solidFill>
                  <a:srgbClr val="CCCCCC"/>
                </a:solidFill>
                <a:latin typeface="Calibri"/>
              </a:defRPr>
            </a:pPr>
          </a:p>
          <a:p>
            <a:pPr algn="l">
              <a:spcBef>
                <a:spcPts val="600"/>
              </a:spcBef>
              <a:spcAft>
                <a:spcPts val="400"/>
              </a:spcAft>
              <a:defRPr sz="1600" b="0">
                <a:solidFill>
                  <a:srgbClr val="CCCCCC"/>
                </a:solidFill>
                <a:latin typeface="Calibri"/>
              </a:defRPr>
            </a:pPr>
            <a:r>
              <a:t>We built an interactive Streamlit web app that lets anyone explore the results without writing code.</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FFFFFF"/>
                </a:solidFill>
                <a:latin typeface="Calibri"/>
              </a:defRPr>
            </a:pPr>
            <a:r>
              <a:t>Features:</a:t>
            </a:r>
          </a:p>
          <a:p>
            <a:pPr algn="l">
              <a:spcBef>
                <a:spcPts val="600"/>
              </a:spcBef>
              <a:spcAft>
                <a:spcPts val="400"/>
              </a:spcAft>
              <a:defRPr sz="1500" b="0">
                <a:solidFill>
                  <a:srgbClr val="FFFFFF"/>
                </a:solidFill>
                <a:latin typeface="Calibri"/>
              </a:defRPr>
            </a:pPr>
            <a:r>
              <a:t>  •  Pick any of the 8 datasets from a dropdown</a:t>
            </a:r>
          </a:p>
          <a:p>
            <a:pPr algn="l">
              <a:spcBef>
                <a:spcPts val="600"/>
              </a:spcBef>
              <a:spcAft>
                <a:spcPts val="400"/>
              </a:spcAft>
              <a:defRPr sz="1500" b="0">
                <a:solidFill>
                  <a:srgbClr val="FFFFFF"/>
                </a:solidFill>
                <a:latin typeface="Calibri"/>
              </a:defRPr>
            </a:pPr>
            <a:r>
              <a:t>  •  Adjust temporal resolution t_res (20s to 600s) with a slider</a:t>
            </a:r>
          </a:p>
          <a:p>
            <a:pPr algn="l">
              <a:spcBef>
                <a:spcPts val="600"/>
              </a:spcBef>
              <a:spcAft>
                <a:spcPts val="400"/>
              </a:spcAft>
              <a:defRPr sz="1500" b="0">
                <a:solidFill>
                  <a:srgbClr val="FFFFFF"/>
                </a:solidFill>
                <a:latin typeface="Calibri"/>
              </a:defRPr>
            </a:pPr>
            <a:r>
              <a:t>  •  Change memory horizon m (1 to 20) in real time</a:t>
            </a:r>
          </a:p>
          <a:p>
            <a:pPr algn="l">
              <a:spcBef>
                <a:spcPts val="600"/>
              </a:spcBef>
              <a:spcAft>
                <a:spcPts val="400"/>
              </a:spcAft>
              <a:defRPr sz="1500" b="0">
                <a:solidFill>
                  <a:srgbClr val="FFFFFF"/>
                </a:solidFill>
                <a:latin typeface="Calibri"/>
              </a:defRPr>
            </a:pPr>
            <a:r>
              <a:t>  •  See inferred p for MEM, MEM+SBM, and both null models as metric cards</a:t>
            </a:r>
          </a:p>
          <a:p>
            <a:pPr algn="l">
              <a:spcBef>
                <a:spcPts val="600"/>
              </a:spcBef>
              <a:spcAft>
                <a:spcPts val="400"/>
              </a:spcAft>
              <a:defRPr sz="1500" b="0">
                <a:solidFill>
                  <a:srgbClr val="FFFFFF"/>
                </a:solidFill>
                <a:latin typeface="Calibri"/>
              </a:defRPr>
            </a:pPr>
            <a:r>
              <a:t>  •  Interactive memory curve (p vs m) across all horizons</a:t>
            </a:r>
          </a:p>
          <a:p>
            <a:pPr algn="l">
              <a:spcBef>
                <a:spcPts val="600"/>
              </a:spcBef>
              <a:spcAft>
                <a:spcPts val="400"/>
              </a:spcAft>
              <a:defRPr sz="1500" b="0">
                <a:solidFill>
                  <a:srgbClr val="FFFFFF"/>
                </a:solidFill>
                <a:latin typeface="Calibri"/>
              </a:defRPr>
            </a:pPr>
            <a:r>
              <a:t>  •  Community affinity matrix C heatmap for labeled datasets</a:t>
            </a:r>
          </a:p>
          <a:p>
            <a:pPr algn="l">
              <a:spcBef>
                <a:spcPts val="600"/>
              </a:spcBef>
              <a:spcAft>
                <a:spcPts val="400"/>
              </a:spcAft>
              <a:defRPr sz="1500" b="0">
                <a:solidFill>
                  <a:srgbClr val="FFFFFF"/>
                </a:solidFill>
                <a:latin typeface="Calibri"/>
              </a:defRPr>
            </a:pPr>
            <a:r>
              <a:t>  •  BIC model selection table with evidence assessment</a:t>
            </a:r>
          </a:p>
          <a:p>
            <a:pPr algn="l">
              <a:spcBef>
                <a:spcPts val="600"/>
              </a:spcBef>
              <a:spcAft>
                <a:spcPts val="400"/>
              </a:spcAft>
              <a:defRPr sz="1500" b="0">
                <a:solidFill>
                  <a:srgbClr val="FFFFFF"/>
                </a:solidFill>
                <a:latin typeface="Calibri"/>
              </a:defRPr>
            </a:pPr>
            <a:r>
              <a:t>  •  Dataset info: node counts, snapshot counts, raw data preview</a:t>
            </a:r>
          </a:p>
          <a:p>
            <a:pPr algn="l">
              <a:spcBef>
                <a:spcPts val="600"/>
              </a:spcBef>
              <a:spcAft>
                <a:spcPts val="400"/>
              </a:spcAft>
              <a:defRPr sz="800" b="0">
                <a:solidFill>
                  <a:srgbClr val="CCCCCC"/>
                </a:solidFill>
                <a:latin typeface="Calibri"/>
              </a:defRPr>
            </a:pPr>
          </a:p>
          <a:p>
            <a:pPr algn="l">
              <a:spcBef>
                <a:spcPts val="600"/>
              </a:spcBef>
              <a:spcAft>
                <a:spcPts val="400"/>
              </a:spcAft>
              <a:defRPr sz="1700" b="1">
                <a:solidFill>
                  <a:srgbClr val="2ECCA8"/>
                </a:solidFill>
                <a:latin typeface="Calibri"/>
              </a:defRPr>
            </a:pPr>
            <a:r>
              <a:t>Technical details:</a:t>
            </a:r>
          </a:p>
          <a:p>
            <a:pPr algn="l">
              <a:spcBef>
                <a:spcPts val="600"/>
              </a:spcBef>
              <a:spcAft>
                <a:spcPts val="400"/>
              </a:spcAft>
              <a:defRPr sz="1500" b="0">
                <a:solidFill>
                  <a:srgbClr val="CCCCCC"/>
                </a:solidFill>
                <a:latin typeface="Calibri"/>
              </a:defRPr>
            </a:pPr>
            <a:r>
              <a:t>  •  All computations cached with @st.cache_data — instant response on parameter changes</a:t>
            </a:r>
          </a:p>
          <a:p>
            <a:pPr algn="l">
              <a:spcBef>
                <a:spcPts val="600"/>
              </a:spcBef>
              <a:spcAft>
                <a:spcPts val="400"/>
              </a:spcAft>
              <a:defRPr sz="1500" b="0">
                <a:solidFill>
                  <a:srgbClr val="CCCCCC"/>
                </a:solidFill>
                <a:latin typeface="Calibri"/>
              </a:defRPr>
            </a:pPr>
            <a:r>
              <a:t>  •  Hierarchical caching: changing m doesn't resample paths, only re-builds records</a:t>
            </a:r>
          </a:p>
          <a:p>
            <a:pPr algn="l">
              <a:spcBef>
                <a:spcPts val="600"/>
              </a:spcBef>
              <a:spcAft>
                <a:spcPts val="400"/>
              </a:spcAft>
              <a:defRPr sz="1500" b="0">
                <a:solidFill>
                  <a:srgbClr val="2ECCA8"/>
                </a:solidFill>
                <a:latin typeface="Consolas"/>
              </a:defRPr>
            </a:pPr>
            <a:r>
              <a:t>  •  Launch with: streamlit run app.py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Engineering Quality: Testing &amp; Packaging</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029200"/>
          </a:xfrm>
          <a:prstGeom prst="rect">
            <a:avLst/>
          </a:prstGeom>
          <a:noFill/>
        </p:spPr>
        <p:txBody>
          <a:bodyPr wrap="square">
            <a:spAutoFit/>
          </a:bodyPr>
          <a:lstStyle/>
          <a:p>
            <a:pPr algn="l">
              <a:lnSpc>
                <a:spcPts val="2000"/>
              </a:lnSpc>
              <a:defRPr sz="1800" b="1">
                <a:solidFill>
                  <a:srgbClr val="4EA8DE"/>
                </a:solidFill>
                <a:latin typeface="Calibri"/>
              </a:defRPr>
            </a:pPr>
            <a:r>
              <a:t>44 Unit Tests Across 10 Modules</a:t>
            </a:r>
          </a:p>
          <a:p>
            <a:pPr algn="l">
              <a:spcBef>
                <a:spcPts val="600"/>
              </a:spcBef>
              <a:spcAft>
                <a:spcPts val="400"/>
              </a:spcAft>
              <a:defRPr sz="600" b="0">
                <a:solidFill>
                  <a:srgbClr val="CCCCCC"/>
                </a:solidFill>
                <a:latin typeface="Calibri"/>
              </a:defRPr>
            </a:pPr>
          </a:p>
          <a:p>
            <a:pPr algn="l">
              <a:spcBef>
                <a:spcPts val="200"/>
              </a:spcBef>
              <a:spcAft>
                <a:spcPts val="100"/>
              </a:spcAft>
              <a:defRPr sz="1300" b="0">
                <a:solidFill>
                  <a:srgbClr val="CCCCCC"/>
                </a:solidFill>
                <a:latin typeface="Consolas"/>
              </a:defRPr>
            </a:pPr>
            <a:r>
              <a:t>  ✓ test_aggregation.py       Snapshot binning, day splitting</a:t>
            </a:r>
          </a:p>
          <a:p>
            <a:pPr algn="l">
              <a:spcBef>
                <a:spcPts val="200"/>
              </a:spcBef>
              <a:spcAft>
                <a:spcPts val="100"/>
              </a:spcAft>
              <a:defRPr sz="1300" b="0">
                <a:solidFill>
                  <a:srgbClr val="CCCCCC"/>
                </a:solidFill>
                <a:latin typeface="Consolas"/>
              </a:defRPr>
            </a:pPr>
            <a:r>
              <a:t>  ✓ test_bootstrap.py         Resampling, CI computation</a:t>
            </a:r>
          </a:p>
          <a:p>
            <a:pPr algn="l">
              <a:spcBef>
                <a:spcPts val="200"/>
              </a:spcBef>
              <a:spcAft>
                <a:spcPts val="100"/>
              </a:spcAft>
              <a:defRPr sz="1300" b="0">
                <a:solidFill>
                  <a:srgbClr val="CCCCCC"/>
                </a:solidFill>
                <a:latin typeface="Consolas"/>
              </a:defRPr>
            </a:pPr>
            <a:r>
              <a:t>  ✓ test_diffusion.py         Heat flow, entropy bounds</a:t>
            </a:r>
          </a:p>
          <a:p>
            <a:pPr algn="l">
              <a:spcBef>
                <a:spcPts val="200"/>
              </a:spcBef>
              <a:spcAft>
                <a:spcPts val="100"/>
              </a:spcAft>
              <a:defRPr sz="1300" b="0">
                <a:solidFill>
                  <a:srgbClr val="CCCCCC"/>
                </a:solidFill>
                <a:latin typeface="Consolas"/>
              </a:defRPr>
            </a:pPr>
            <a:r>
              <a:t>  ✓ test_models.py            MEM recovery, likelihood, BIC</a:t>
            </a:r>
          </a:p>
          <a:p>
            <a:pPr algn="l">
              <a:spcBef>
                <a:spcPts val="200"/>
              </a:spcBef>
              <a:spcAft>
                <a:spcPts val="100"/>
              </a:spcAft>
              <a:defRPr sz="1300" b="0">
                <a:solidFill>
                  <a:srgbClr val="CCCCCC"/>
                </a:solidFill>
                <a:latin typeface="Consolas"/>
              </a:defRPr>
            </a:pPr>
            <a:r>
              <a:t>  ✓ test_nulls.py             ER/shuffled invariants</a:t>
            </a:r>
          </a:p>
          <a:p>
            <a:pPr algn="l">
              <a:spcBef>
                <a:spcPts val="200"/>
              </a:spcBef>
              <a:spcAft>
                <a:spcPts val="100"/>
              </a:spcAft>
              <a:defRPr sz="1300" b="0">
                <a:solidFill>
                  <a:srgbClr val="CCCCCC"/>
                </a:solidFill>
                <a:latin typeface="Consolas"/>
              </a:defRPr>
            </a:pPr>
            <a:r>
              <a:t>  ✓ test_records.py           Memory set tracking</a:t>
            </a:r>
          </a:p>
          <a:p>
            <a:pPr algn="l">
              <a:spcBef>
                <a:spcPts val="200"/>
              </a:spcBef>
              <a:spcAft>
                <a:spcPts val="100"/>
              </a:spcAft>
              <a:defRPr sz="1300" b="0">
                <a:solidFill>
                  <a:srgbClr val="CCCCCC"/>
                </a:solidFill>
                <a:latin typeface="Consolas"/>
              </a:defRPr>
            </a:pPr>
            <a:r>
              <a:t>  ✓ test_sbm.py               MEM+SBM optimization</a:t>
            </a:r>
          </a:p>
          <a:p>
            <a:pPr algn="l">
              <a:spcBef>
                <a:spcPts val="200"/>
              </a:spcBef>
              <a:spcAft>
                <a:spcPts val="100"/>
              </a:spcAft>
              <a:defRPr sz="1300" b="0">
                <a:solidFill>
                  <a:srgbClr val="CCCCCC"/>
                </a:solidFill>
                <a:latin typeface="Consolas"/>
              </a:defRPr>
            </a:pPr>
            <a:r>
              <a:t>  ✓ test_sir.py               SIR dynamics, calibration</a:t>
            </a:r>
          </a:p>
          <a:p>
            <a:pPr algn="l">
              <a:spcBef>
                <a:spcPts val="200"/>
              </a:spcBef>
              <a:spcAft>
                <a:spcPts val="100"/>
              </a:spcAft>
              <a:defRPr sz="1300" b="0">
                <a:solidFill>
                  <a:srgbClr val="CCCCCC"/>
                </a:solidFill>
                <a:latin typeface="Consolas"/>
              </a:defRPr>
            </a:pPr>
            <a:r>
              <a:t>  ✓ test_timevarying.py       Time binning, fixed-C solver</a:t>
            </a:r>
          </a:p>
          <a:p>
            <a:pPr algn="l">
              <a:spcBef>
                <a:spcPts val="200"/>
              </a:spcBef>
              <a:spcAft>
                <a:spcPts val="100"/>
              </a:spcAft>
              <a:defRPr sz="1300" b="0">
                <a:solidFill>
                  <a:srgbClr val="CCCCCC"/>
                </a:solidFill>
                <a:latin typeface="Consolas"/>
              </a:defRPr>
            </a:pPr>
            <a:r>
              <a:t>  ✓ test_trp.py               Non-backtracking validity</a:t>
            </a:r>
          </a:p>
          <a:p>
            <a:pPr algn="l">
              <a:spcBef>
                <a:spcPts val="600"/>
              </a:spcBef>
              <a:spcAft>
                <a:spcPts val="400"/>
              </a:spcAft>
              <a:defRPr sz="800" b="0">
                <a:solidFill>
                  <a:srgbClr val="CCCCCC"/>
                </a:solidFill>
                <a:latin typeface="Calibri"/>
              </a:defRPr>
            </a:pPr>
          </a:p>
          <a:p>
            <a:pPr algn="l">
              <a:spcBef>
                <a:spcPts val="600"/>
              </a:spcBef>
              <a:spcAft>
                <a:spcPts val="400"/>
              </a:spcAft>
              <a:defRPr sz="1500" b="1">
                <a:solidFill>
                  <a:srgbClr val="2ECCA8"/>
                </a:solidFill>
                <a:latin typeface="Calibri"/>
              </a:defRPr>
            </a:pPr>
            <a:r>
              <a:t>  All 44 tests pass in ~19 seconds</a:t>
            </a:r>
          </a:p>
        </p:txBody>
      </p:sp>
      <p:sp>
        <p:nvSpPr>
          <p:cNvPr id="5" name="Rounded Rectangle 4"/>
          <p:cNvSpPr/>
          <p:nvPr/>
        </p:nvSpPr>
        <p:spPr>
          <a:xfrm>
            <a:off x="6583680" y="1463040"/>
            <a:ext cx="4846320" cy="4572000"/>
          </a:xfrm>
          <a:prstGeom prst="roundRect">
            <a:avLst/>
          </a:prstGeom>
          <a:solidFill>
            <a:srgbClr val="252540"/>
          </a:solidFill>
          <a:ln w="19050">
            <a:solidFill>
              <a:srgbClr val="2EC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ECCA8"/>
                </a:solidFill>
              </a:defRPr>
            </a:pPr>
            <a:r>
              <a:t>Package Features</a:t>
            </a:r>
          </a:p>
          <a:p>
            <a:pPr algn="l">
              <a:spcBef>
                <a:spcPts val="600"/>
              </a:spcBef>
              <a:spcAft>
                <a:spcPts val="400"/>
              </a:spcAft>
              <a:defRPr sz="600" b="0">
                <a:solidFill>
                  <a:srgbClr val="CCCCCC"/>
                </a:solidFill>
                <a:latin typeface="Calibri"/>
              </a:defRPr>
            </a:pPr>
          </a:p>
          <a:p>
            <a:pPr algn="l">
              <a:spcBef>
                <a:spcPts val="600"/>
              </a:spcBef>
              <a:spcAft>
                <a:spcPts val="400"/>
              </a:spcAft>
              <a:defRPr sz="1500" b="0">
                <a:solidFill>
                  <a:srgbClr val="FFFFFF"/>
                </a:solidFill>
                <a:latin typeface="Calibri"/>
              </a:defRPr>
            </a:pPr>
            <a:r>
              <a:t>  📦  pip install -e . (editable mode)</a:t>
            </a:r>
          </a:p>
          <a:p>
            <a:pPr algn="l">
              <a:spcBef>
                <a:spcPts val="600"/>
              </a:spcBef>
              <a:spcAft>
                <a:spcPts val="400"/>
              </a:spcAft>
              <a:defRPr sz="1500" b="0">
                <a:solidFill>
                  <a:srgbClr val="FFFFFF"/>
                </a:solidFill>
                <a:latin typeface="Calibri"/>
              </a:defRPr>
            </a:pPr>
            <a:r>
              <a:t>  📋  pyproject.toml (PEP 517/518)</a:t>
            </a:r>
          </a:p>
          <a:p>
            <a:pPr algn="l">
              <a:spcBef>
                <a:spcPts val="600"/>
              </a:spcBef>
              <a:spcAft>
                <a:spcPts val="400"/>
              </a:spcAft>
              <a:defRPr sz="1500" b="0">
                <a:solidFill>
                  <a:srgbClr val="FFFFFF"/>
                </a:solidFill>
                <a:latin typeface="Calibri"/>
              </a:defRPr>
            </a:pPr>
            <a:r>
              <a:t>  📖  Comprehensive README with all steps</a:t>
            </a:r>
          </a:p>
          <a:p>
            <a:pPr algn="l">
              <a:spcBef>
                <a:spcPts val="600"/>
              </a:spcBef>
              <a:spcAft>
                <a:spcPts val="400"/>
              </a:spcAft>
              <a:defRPr sz="1500" b="0">
                <a:solidFill>
                  <a:srgbClr val="FFFFFF"/>
                </a:solidFill>
                <a:latin typeface="Calibri"/>
              </a:defRPr>
            </a:pPr>
            <a:r>
              <a:t>  📓  Jupyter demo notebook</a:t>
            </a:r>
          </a:p>
          <a:p>
            <a:pPr algn="l">
              <a:spcBef>
                <a:spcPts val="600"/>
              </a:spcBef>
              <a:spcAft>
                <a:spcPts val="400"/>
              </a:spcAft>
              <a:defRPr sz="1500" b="0">
                <a:solidFill>
                  <a:srgbClr val="FFFFFF"/>
                </a:solidFill>
                <a:latin typeface="Calibri"/>
              </a:defRPr>
            </a:pPr>
            <a:r>
              <a:t>  🌐  Streamlit interactive dashboard</a:t>
            </a:r>
          </a:p>
          <a:p>
            <a:pPr algn="l">
              <a:spcBef>
                <a:spcPts val="600"/>
              </a:spcBef>
              <a:spcAft>
                <a:spcPts val="400"/>
              </a:spcAft>
              <a:defRPr sz="1500" b="0">
                <a:solidFill>
                  <a:srgbClr val="FFFFFF"/>
                </a:solidFill>
                <a:latin typeface="Calibri"/>
              </a:defRPr>
            </a:pPr>
            <a:r>
              <a:t>  🔧  config.py: all tunable parameters</a:t>
            </a:r>
          </a:p>
          <a:p>
            <a:pPr algn="l">
              <a:spcBef>
                <a:spcPts val="600"/>
              </a:spcBef>
              <a:spcAft>
                <a:spcPts val="400"/>
              </a:spcAft>
              <a:defRPr sz="1500" b="0">
                <a:solidFill>
                  <a:srgbClr val="FFFFFF"/>
                </a:solidFill>
                <a:latin typeface="Calibri"/>
              </a:defRPr>
            </a:pPr>
            <a:r>
              <a:t>  🎲  Explicit seeds: reproducible results</a:t>
            </a:r>
          </a:p>
          <a:p>
            <a:pPr algn="l">
              <a:spcBef>
                <a:spcPts val="600"/>
              </a:spcBef>
              <a:spcAft>
                <a:spcPts val="400"/>
              </a:spcAft>
              <a:defRPr sz="1500" b="0">
                <a:solidFill>
                  <a:srgbClr val="FFFFFF"/>
                </a:solidFill>
                <a:latin typeface="Calibri"/>
              </a:defRPr>
            </a:pPr>
            <a:r>
              <a:t>  📐  Type hints on every function</a:t>
            </a:r>
          </a:p>
          <a:p>
            <a:pPr algn="l">
              <a:spcBef>
                <a:spcPts val="600"/>
              </a:spcBef>
              <a:spcAft>
                <a:spcPts val="400"/>
              </a:spcAft>
              <a:defRPr sz="1500" b="0">
                <a:solidFill>
                  <a:srgbClr val="FFFFFF"/>
                </a:solidFill>
                <a:latin typeface="Calibri"/>
              </a:defRPr>
            </a:pPr>
            <a:r>
              <a:t>  📝  Docstrings on every function</a:t>
            </a:r>
          </a:p>
          <a:p>
            <a:pPr algn="l">
              <a:spcBef>
                <a:spcPts val="600"/>
              </a:spcBef>
              <a:spcAft>
                <a:spcPts val="400"/>
              </a:spcAft>
              <a:defRPr sz="800" b="0">
                <a:solidFill>
                  <a:srgbClr val="CCCCCC"/>
                </a:solidFill>
                <a:latin typeface="Calibri"/>
              </a:defRPr>
            </a:pPr>
          </a:p>
          <a:p>
            <a:pPr algn="l">
              <a:spcBef>
                <a:spcPts val="600"/>
              </a:spcBef>
              <a:spcAft>
                <a:spcPts val="400"/>
              </a:spcAft>
              <a:defRPr sz="1500" b="0">
                <a:solidFill>
                  <a:srgbClr val="E88D3F"/>
                </a:solidFill>
                <a:latin typeface="Calibri"/>
              </a:defRPr>
            </a:pPr>
            <a:r>
              <a:t>  11 standalone experiment scripts</a:t>
            </a:r>
          </a:p>
          <a:p>
            <a:pPr algn="l">
              <a:spcBef>
                <a:spcPts val="600"/>
              </a:spcBef>
              <a:spcAft>
                <a:spcPts val="400"/>
              </a:spcAft>
              <a:defRPr sz="1500" b="0">
                <a:solidFill>
                  <a:srgbClr val="E88D3F"/>
                </a:solidFill>
                <a:latin typeface="Calibri"/>
              </a:defRPr>
            </a:pPr>
            <a:r>
              <a:t>  82 generated result files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9144000" cy="640080"/>
          </a:xfrm>
          <a:prstGeom prst="rect">
            <a:avLst/>
          </a:prstGeom>
          <a:noFill/>
        </p:spPr>
        <p:txBody>
          <a:bodyPr wrap="square">
            <a:spAutoFit/>
          </a:bodyPr>
          <a:lstStyle/>
          <a:p>
            <a:pPr algn="l">
              <a:lnSpc>
                <a:spcPts val="3600"/>
              </a:lnSpc>
              <a:defRPr sz="3200" b="1">
                <a:solidFill>
                  <a:srgbClr val="FFFFFF"/>
                </a:solidFill>
                <a:latin typeface="Calibri Light"/>
              </a:defRPr>
            </a:pPr>
            <a:r>
              <a:t>Key Takeaways</a:t>
            </a:r>
          </a:p>
        </p:txBody>
      </p:sp>
      <p:sp>
        <p:nvSpPr>
          <p:cNvPr id="3" name="Rectangle 2"/>
          <p:cNvSpPr/>
          <p:nvPr/>
        </p:nvSpPr>
        <p:spPr>
          <a:xfrm>
            <a:off x="731520" y="1051560"/>
            <a:ext cx="22860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515600" cy="5029200"/>
          </a:xfrm>
          <a:prstGeom prst="rect">
            <a:avLst/>
          </a:prstGeom>
          <a:noFill/>
        </p:spPr>
        <p:txBody>
          <a:bodyPr wrap="square">
            <a:spAutoFit/>
          </a:bodyPr>
          <a:lstStyle/>
          <a:p>
            <a:pPr algn="l">
              <a:lnSpc>
                <a:spcPts val="2000"/>
              </a:lnSpc>
              <a:defRPr sz="1800" b="0">
                <a:solidFill>
                  <a:srgbClr val="FFFFFF"/>
                </a:solidFill>
                <a:latin typeface="Calibri"/>
              </a:defRPr>
            </a:pPr>
          </a:p>
          <a:p>
            <a:pPr algn="l">
              <a:defRPr sz="2000" b="1">
                <a:solidFill>
                  <a:srgbClr val="4EA8DE"/>
                </a:solidFill>
                <a:latin typeface="Calibri"/>
              </a:defRPr>
            </a:pPr>
            <a:r>
              <a:t>From the Paper:</a:t>
            </a:r>
          </a:p>
          <a:p>
            <a:pPr algn="l">
              <a:defRPr sz="600" b="0">
                <a:solidFill>
                  <a:srgbClr val="CCCCCC"/>
                </a:solidFill>
                <a:latin typeface="Calibri"/>
              </a:defRPr>
            </a:pPr>
          </a:p>
          <a:p>
            <a:pPr algn="l">
              <a:defRPr sz="1700" b="0">
                <a:solidFill>
                  <a:srgbClr val="FFFFFF"/>
                </a:solidFill>
                <a:latin typeface="Calibri"/>
              </a:defRPr>
            </a:pPr>
            <a:r>
              <a:t>1.  Real temporal networks exhibit strong memory (p = 0.5 – 0.97)</a:t>
            </a:r>
          </a:p>
          <a:p>
            <a:pPr algn="l">
              <a:defRPr sz="1400" b="0">
                <a:solidFill>
                  <a:srgbClr val="999999"/>
                </a:solidFill>
                <a:latin typeface="Calibri"/>
              </a:defRPr>
            </a:pPr>
            <a:r>
              <a:t>     People consistently revisit recent contacts far beyond what chance predicts</a:t>
            </a:r>
          </a:p>
          <a:p>
            <a:pPr algn="l">
              <a:defRPr sz="600" b="0">
                <a:solidFill>
                  <a:srgbClr val="CCCCCC"/>
                </a:solidFill>
                <a:latin typeface="Calibri"/>
              </a:defRPr>
            </a:pPr>
          </a:p>
          <a:p>
            <a:pPr algn="l">
              <a:defRPr sz="1700" b="0">
                <a:solidFill>
                  <a:srgbClr val="FFFFFF"/>
                </a:solidFill>
                <a:latin typeface="Calibri"/>
              </a:defRPr>
            </a:pPr>
            <a:r>
              <a:t>2.  Community structure explains part of the memory (MEM+SBM always wins on BIC)</a:t>
            </a:r>
          </a:p>
          <a:p>
            <a:pPr algn="l">
              <a:defRPr sz="1400" b="0">
                <a:solidFill>
                  <a:srgbClr val="999999"/>
                </a:solidFill>
                <a:latin typeface="Calibri"/>
              </a:defRPr>
            </a:pPr>
            <a:r>
              <a:t>     But individual memory p remains significant even after accounting for communities</a:t>
            </a:r>
          </a:p>
          <a:p>
            <a:pPr algn="l">
              <a:defRPr sz="600" b="0">
                <a:solidFill>
                  <a:srgbClr val="CCCCCC"/>
                </a:solidFill>
                <a:latin typeface="Calibri"/>
              </a:defRPr>
            </a:pPr>
          </a:p>
          <a:p>
            <a:pPr algn="l">
              <a:defRPr sz="1700" b="0">
                <a:solidFill>
                  <a:srgbClr val="FFFFFF"/>
                </a:solidFill>
                <a:latin typeface="Calibri"/>
              </a:defRPr>
            </a:pPr>
            <a:r>
              <a:t>3.  Memory is robust across temporal resolutions and follows circadian patterns</a:t>
            </a:r>
          </a:p>
          <a:p>
            <a:pPr algn="l">
              <a:defRPr sz="1000" b="0">
                <a:solidFill>
                  <a:srgbClr val="CCCCCC"/>
                </a:solidFill>
                <a:latin typeface="Calibri"/>
              </a:defRPr>
            </a:pPr>
          </a:p>
          <a:p>
            <a:pPr algn="l">
              <a:defRPr sz="2000" b="1">
                <a:solidFill>
                  <a:srgbClr val="E88D3F"/>
                </a:solidFill>
                <a:latin typeface="Calibri"/>
              </a:defRPr>
            </a:pPr>
            <a:r>
              <a:t>From Our Extensions:</a:t>
            </a:r>
          </a:p>
          <a:p>
            <a:pPr algn="l">
              <a:defRPr sz="600" b="0">
                <a:solidFill>
                  <a:srgbClr val="CCCCCC"/>
                </a:solidFill>
                <a:latin typeface="Calibri"/>
              </a:defRPr>
            </a:pPr>
          </a:p>
          <a:p>
            <a:pPr algn="l">
              <a:defRPr sz="1700" b="0">
                <a:solidFill>
                  <a:srgbClr val="FFFFFF"/>
                </a:solidFill>
                <a:latin typeface="Calibri"/>
              </a:defRPr>
            </a:pPr>
            <a:r>
              <a:t>4.  Memory slows epidemic spreading — higher memory = smaller outbreaks vs. shuffled</a:t>
            </a:r>
          </a:p>
          <a:p>
            <a:pPr algn="l">
              <a:defRPr sz="1400" b="0">
                <a:solidFill>
                  <a:srgbClr val="999999"/>
                </a:solidFill>
                <a:latin typeface="Calibri"/>
              </a:defRPr>
            </a:pPr>
            <a:r>
              <a:t>     Time-shuffled networks produce 2× to 12× larger epidemics</a:t>
            </a:r>
          </a:p>
          <a:p>
            <a:pPr algn="l">
              <a:defRPr sz="600" b="0">
                <a:solidFill>
                  <a:srgbClr val="CCCCCC"/>
                </a:solidFill>
                <a:latin typeface="Calibri"/>
              </a:defRPr>
            </a:pPr>
          </a:p>
          <a:p>
            <a:pPr algn="l">
              <a:defRPr sz="1700" b="0">
                <a:solidFill>
                  <a:srgbClr val="FFFFFF"/>
                </a:solidFill>
                <a:latin typeface="Calibri"/>
              </a:defRPr>
            </a:pPr>
            <a:r>
              <a:t>5.  Memory-informed isolation strategies are competitive with traditional approaches</a:t>
            </a:r>
          </a:p>
          <a:p>
            <a:pPr algn="l">
              <a:defRPr sz="1400" b="0">
                <a:solidFill>
                  <a:srgbClr val="999999"/>
                </a:solidFill>
                <a:latin typeface="Calibri"/>
              </a:defRPr>
            </a:pPr>
            <a:r>
              <a:t>     Return Rate targeting performs comparably to Contact Time targeting</a:t>
            </a:r>
          </a:p>
          <a:p>
            <a:pPr algn="l">
              <a:defRPr sz="600" b="0">
                <a:solidFill>
                  <a:srgbClr val="CCCCCC"/>
                </a:solidFill>
                <a:latin typeface="Calibri"/>
              </a:defRPr>
            </a:pPr>
          </a:p>
          <a:p>
            <a:pPr algn="l">
              <a:defRPr sz="1700" b="0">
                <a:solidFill>
                  <a:srgbClr val="2ECCA8"/>
                </a:solidFill>
                <a:latin typeface="Calibri"/>
              </a:defRPr>
            </a:pPr>
            <a:r>
              <a:t>6.  The package is production-ready: tested, documented, interactive, reproducible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1371600" y="2103120"/>
            <a:ext cx="2743200" cy="38100"/>
          </a:xfrm>
          <a:prstGeom prst="rect">
            <a:avLst/>
          </a:prstGeom>
          <a:solidFill>
            <a:srgbClr val="2EC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144000" cy="1097280"/>
          </a:xfrm>
          <a:prstGeom prst="rect">
            <a:avLst/>
          </a:prstGeom>
          <a:noFill/>
        </p:spPr>
        <p:txBody>
          <a:bodyPr wrap="square">
            <a:spAutoFit/>
          </a:bodyPr>
          <a:lstStyle/>
          <a:p>
            <a:pPr algn="l">
              <a:lnSpc>
                <a:spcPts val="5000"/>
              </a:lnSpc>
              <a:defRPr sz="4400" b="1">
                <a:solidFill>
                  <a:srgbClr val="FFFFFF"/>
                </a:solidFill>
                <a:latin typeface="Calibri Light"/>
              </a:defRPr>
            </a:pPr>
            <a:r>
              <a:t>Thank You!</a:t>
            </a:r>
          </a:p>
        </p:txBody>
      </p:sp>
      <p:sp>
        <p:nvSpPr>
          <p:cNvPr id="4" name="TextBox 3"/>
          <p:cNvSpPr txBox="1"/>
          <p:nvPr/>
        </p:nvSpPr>
        <p:spPr>
          <a:xfrm>
            <a:off x="1371600" y="3474720"/>
            <a:ext cx="9144000" cy="640080"/>
          </a:xfrm>
          <a:prstGeom prst="rect">
            <a:avLst/>
          </a:prstGeom>
          <a:noFill/>
        </p:spPr>
        <p:txBody>
          <a:bodyPr wrap="square">
            <a:spAutoFit/>
          </a:bodyPr>
          <a:lstStyle/>
          <a:p>
            <a:pPr algn="l">
              <a:lnSpc>
                <a:spcPts val="2900"/>
              </a:lnSpc>
              <a:defRPr sz="2600" b="0">
                <a:solidFill>
                  <a:srgbClr val="4EA8DE"/>
                </a:solidFill>
                <a:latin typeface="Calibri Light"/>
              </a:defRPr>
            </a:pPr>
            <a:r>
              <a:t>Questions &amp; Discussion</a:t>
            </a:r>
          </a:p>
        </p:txBody>
      </p:sp>
      <p:sp>
        <p:nvSpPr>
          <p:cNvPr id="5" name="TextBox 4"/>
          <p:cNvSpPr txBox="1"/>
          <p:nvPr/>
        </p:nvSpPr>
        <p:spPr>
          <a:xfrm>
            <a:off x="1371600" y="4389120"/>
            <a:ext cx="9144000" cy="548640"/>
          </a:xfrm>
          <a:prstGeom prst="rect">
            <a:avLst/>
          </a:prstGeom>
          <a:noFill/>
        </p:spPr>
        <p:txBody>
          <a:bodyPr wrap="square">
            <a:spAutoFit/>
          </a:bodyPr>
          <a:lstStyle/>
          <a:p>
            <a:pPr algn="l">
              <a:lnSpc>
                <a:spcPts val="1800"/>
              </a:lnSpc>
              <a:defRPr sz="1600" b="0">
                <a:solidFill>
                  <a:srgbClr val="999999"/>
                </a:solidFill>
                <a:latin typeface="Consolas"/>
              </a:defRPr>
            </a:pPr>
            <a:r>
              <a:t>Code:  github.com/[your-repo]  •  Launch:  streamlit run app.py</a:t>
            </a:r>
          </a:p>
        </p:txBody>
      </p:sp>
      <p:sp>
        <p:nvSpPr>
          <p:cNvPr id="6" name="TextBox 5"/>
          <p:cNvSpPr txBox="1"/>
          <p:nvPr/>
        </p:nvSpPr>
        <p:spPr>
          <a:xfrm>
            <a:off x="1371600" y="5029200"/>
            <a:ext cx="9144000" cy="914400"/>
          </a:xfrm>
          <a:prstGeom prst="rect">
            <a:avLst/>
          </a:prstGeom>
          <a:noFill/>
        </p:spPr>
        <p:txBody>
          <a:bodyPr wrap="square">
            <a:spAutoFit/>
          </a:bodyPr>
          <a:lstStyle/>
          <a:p>
            <a:pPr algn="l">
              <a:lnSpc>
                <a:spcPts val="1600"/>
              </a:lnSpc>
              <a:defRPr sz="1400" b="0">
                <a:solidFill>
                  <a:srgbClr val="999999"/>
                </a:solidFill>
                <a:latin typeface="Calibri"/>
              </a:defRPr>
            </a:pPr>
            <a:r>
              <a:t>Based on: Guerrini, Cattuto &amp; Dall'Amico,</a:t>
            </a:r>
            <a:br/>
            <a:r>
              <a:t>"Modeling memory in time-respecting paths on temporal networks",</a:t>
            </a:r>
            <a:br/>
            <a:r>
              <a:t>EPJ Data Science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